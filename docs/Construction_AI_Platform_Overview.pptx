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E33"/>
        </a:solidFill>
      </p:bgPr>
    </p:bg>
    <p:spTree>
      <p:nvGrpSpPr>
        <p:cNvPr id="1" name=""/>
        <p:cNvGrpSpPr/>
        <p:nvPr/>
      </p:nvGrpSpPr>
      <p:grpSpPr>
        <a:xfrm>
          <a:off x="0" y="0"/>
          <a:ext cx="0" cy="0"/>
          <a:chOff x="0" y="0"/>
          <a:chExt cx="0" cy="0"/>
        </a:xfrm>
      </p:grpSpPr>
      <p:sp>
        <p:nvSpPr>
          <p:cNvPr id="2" name="Shape 0"/>
          <p:cNvSpPr/>
          <p:nvPr/>
        </p:nvSpPr>
        <p:spPr>
          <a:xfrm>
            <a:off x="1523962" y="0"/>
            <a:ext cx="0" cy="6858000"/>
          </a:xfrm>
          <a:prstGeom prst="line">
            <a:avLst/>
          </a:prstGeom>
          <a:noFill/>
          <a:ln w="6350">
            <a:solidFill>
              <a:srgbClr val="1B3554"/>
            </a:solidFill>
            <a:prstDash val="solid"/>
          </a:ln>
        </p:spPr>
      </p:sp>
      <p:sp>
        <p:nvSpPr>
          <p:cNvPr id="3" name="Shape 1"/>
          <p:cNvSpPr/>
          <p:nvPr/>
        </p:nvSpPr>
        <p:spPr>
          <a:xfrm>
            <a:off x="3047924" y="0"/>
            <a:ext cx="0" cy="6858000"/>
          </a:xfrm>
          <a:prstGeom prst="line">
            <a:avLst/>
          </a:prstGeom>
          <a:noFill/>
          <a:ln w="6350">
            <a:solidFill>
              <a:srgbClr val="1B3554"/>
            </a:solidFill>
            <a:prstDash val="solid"/>
          </a:ln>
        </p:spPr>
      </p:sp>
      <p:sp>
        <p:nvSpPr>
          <p:cNvPr id="4" name="Shape 2"/>
          <p:cNvSpPr/>
          <p:nvPr/>
        </p:nvSpPr>
        <p:spPr>
          <a:xfrm>
            <a:off x="4571886" y="0"/>
            <a:ext cx="0" cy="6858000"/>
          </a:xfrm>
          <a:prstGeom prst="line">
            <a:avLst/>
          </a:prstGeom>
          <a:noFill/>
          <a:ln w="6350">
            <a:solidFill>
              <a:srgbClr val="1B3554"/>
            </a:solidFill>
            <a:prstDash val="solid"/>
          </a:ln>
        </p:spPr>
      </p:sp>
      <p:sp>
        <p:nvSpPr>
          <p:cNvPr id="5" name="Shape 3"/>
          <p:cNvSpPr/>
          <p:nvPr/>
        </p:nvSpPr>
        <p:spPr>
          <a:xfrm>
            <a:off x="6095848" y="0"/>
            <a:ext cx="0" cy="6858000"/>
          </a:xfrm>
          <a:prstGeom prst="line">
            <a:avLst/>
          </a:prstGeom>
          <a:noFill/>
          <a:ln w="6350">
            <a:solidFill>
              <a:srgbClr val="1B3554"/>
            </a:solidFill>
            <a:prstDash val="solid"/>
          </a:ln>
        </p:spPr>
      </p:sp>
      <p:sp>
        <p:nvSpPr>
          <p:cNvPr id="6" name="Shape 4"/>
          <p:cNvSpPr/>
          <p:nvPr/>
        </p:nvSpPr>
        <p:spPr>
          <a:xfrm>
            <a:off x="7619810" y="0"/>
            <a:ext cx="0" cy="6858000"/>
          </a:xfrm>
          <a:prstGeom prst="line">
            <a:avLst/>
          </a:prstGeom>
          <a:noFill/>
          <a:ln w="6350">
            <a:solidFill>
              <a:srgbClr val="1B3554"/>
            </a:solidFill>
            <a:prstDash val="solid"/>
          </a:ln>
        </p:spPr>
      </p:sp>
      <p:sp>
        <p:nvSpPr>
          <p:cNvPr id="7" name="Shape 5"/>
          <p:cNvSpPr/>
          <p:nvPr/>
        </p:nvSpPr>
        <p:spPr>
          <a:xfrm>
            <a:off x="9143771" y="0"/>
            <a:ext cx="0" cy="6858000"/>
          </a:xfrm>
          <a:prstGeom prst="line">
            <a:avLst/>
          </a:prstGeom>
          <a:noFill/>
          <a:ln w="6350">
            <a:solidFill>
              <a:srgbClr val="1B3554"/>
            </a:solidFill>
            <a:prstDash val="solid"/>
          </a:ln>
        </p:spPr>
      </p:sp>
      <p:sp>
        <p:nvSpPr>
          <p:cNvPr id="8" name="Shape 6"/>
          <p:cNvSpPr/>
          <p:nvPr/>
        </p:nvSpPr>
        <p:spPr>
          <a:xfrm>
            <a:off x="10667733" y="0"/>
            <a:ext cx="0" cy="6858000"/>
          </a:xfrm>
          <a:prstGeom prst="line">
            <a:avLst/>
          </a:prstGeom>
          <a:noFill/>
          <a:ln w="6350">
            <a:solidFill>
              <a:srgbClr val="1B3554"/>
            </a:solidFill>
            <a:prstDash val="solid"/>
          </a:ln>
        </p:spPr>
      </p:sp>
      <p:sp>
        <p:nvSpPr>
          <p:cNvPr id="9" name="Shape 7"/>
          <p:cNvSpPr/>
          <p:nvPr/>
        </p:nvSpPr>
        <p:spPr>
          <a:xfrm>
            <a:off x="548640" y="1234440"/>
            <a:ext cx="822960" cy="822960"/>
          </a:xfrm>
          <a:prstGeom prst="ellipse">
            <a:avLst/>
          </a:prstGeom>
          <a:solidFill>
            <a:srgbClr val="E8622C"/>
          </a:solidFill>
          <a:ln/>
        </p:spPr>
      </p:sp>
      <p:pic>
        <p:nvPicPr>
          <p:cNvPr id="10" name="Image 0" descr="preencoded.png">    </p:cNvPr>
          <p:cNvPicPr>
            <a:picLocks noChangeAspect="1"/>
          </p:cNvPicPr>
          <p:nvPr/>
        </p:nvPicPr>
        <p:blipFill>
          <a:blip r:embed="rId1"/>
          <a:stretch>
            <a:fillRect/>
          </a:stretch>
        </p:blipFill>
        <p:spPr>
          <a:xfrm>
            <a:off x="729691" y="1415491"/>
            <a:ext cx="460858" cy="460858"/>
          </a:xfrm>
          <a:prstGeom prst="rect">
            <a:avLst/>
          </a:prstGeom>
        </p:spPr>
      </p:pic>
      <p:sp>
        <p:nvSpPr>
          <p:cNvPr id="11" name="Text 8"/>
          <p:cNvSpPr/>
          <p:nvPr/>
        </p:nvSpPr>
        <p:spPr>
          <a:xfrm>
            <a:off x="548640" y="2331720"/>
            <a:ext cx="9601200" cy="457200"/>
          </a:xfrm>
          <a:prstGeom prst="rect">
            <a:avLst/>
          </a:prstGeom>
          <a:noFill/>
          <a:ln/>
        </p:spPr>
        <p:txBody>
          <a:bodyPr wrap="square" lIns="0" tIns="0" rIns="0" bIns="0" rtlCol="0" anchor="ctr"/>
          <a:lstStyle/>
          <a:p>
            <a:pPr indent="0" marL="0">
              <a:buNone/>
            </a:pPr>
            <a:r>
              <a:rPr lang="en-US" sz="2000" b="1" spc="200" kern="0" dirty="0">
                <a:solidFill>
                  <a:srgbClr val="E8622C"/>
                </a:solidFill>
                <a:latin typeface="Calibri" pitchFamily="34" charset="0"/>
                <a:ea typeface="Calibri" pitchFamily="34" charset="-122"/>
                <a:cs typeface="Calibri" pitchFamily="34" charset="-120"/>
              </a:rPr>
              <a:t>CONSTRUCTION OPERATIONS</a:t>
            </a:r>
            <a:endParaRPr lang="en-US" sz="2000" dirty="0"/>
          </a:p>
        </p:txBody>
      </p:sp>
      <p:sp>
        <p:nvSpPr>
          <p:cNvPr id="12" name="Text 9"/>
          <p:cNvSpPr/>
          <p:nvPr/>
        </p:nvSpPr>
        <p:spPr>
          <a:xfrm>
            <a:off x="548640" y="278892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Intelligence Platform</a:t>
            </a:r>
            <a:endParaRPr lang="en-US" sz="5400" dirty="0"/>
          </a:p>
        </p:txBody>
      </p:sp>
      <p:sp>
        <p:nvSpPr>
          <p:cNvPr id="13" name="Text 10"/>
          <p:cNvSpPr/>
          <p:nvPr/>
        </p:nvSpPr>
        <p:spPr>
          <a:xfrm>
            <a:off x="548640" y="3977640"/>
            <a:ext cx="8412480" cy="731520"/>
          </a:xfrm>
          <a:prstGeom prst="rect">
            <a:avLst/>
          </a:prstGeom>
          <a:noFill/>
          <a:ln/>
        </p:spPr>
        <p:txBody>
          <a:bodyPr wrap="square" lIns="0" tIns="0" rIns="0" bIns="0" rtlCol="0" anchor="ctr"/>
          <a:lstStyle/>
          <a:p>
            <a:pPr indent="0" marL="0">
              <a:lnSpc>
                <a:spcPct val="125000"/>
              </a:lnSpc>
              <a:buNone/>
            </a:pPr>
            <a:r>
              <a:rPr lang="en-US" sz="1600" dirty="0">
                <a:solidFill>
                  <a:srgbClr val="C7D2DE"/>
                </a:solidFill>
                <a:latin typeface="Calibri" pitchFamily="34" charset="0"/>
                <a:ea typeface="Calibri" pitchFamily="34" charset="-122"/>
                <a:cs typeface="Calibri" pitchFamily="34" charset="-120"/>
              </a:rPr>
              <a:t>An AI operations platform for construction companies — built to run a real portfolio, not just demonstrate one.</a:t>
            </a:r>
            <a:endParaRPr lang="en-US" sz="1600" dirty="0"/>
          </a:p>
        </p:txBody>
      </p:sp>
      <p:sp>
        <p:nvSpPr>
          <p:cNvPr id="14" name="Text 11"/>
          <p:cNvSpPr/>
          <p:nvPr/>
        </p:nvSpPr>
        <p:spPr>
          <a:xfrm>
            <a:off x="548640" y="6035040"/>
            <a:ext cx="9144000" cy="365760"/>
          </a:xfrm>
          <a:prstGeom prst="rect">
            <a:avLst/>
          </a:prstGeom>
          <a:noFill/>
          <a:ln/>
        </p:spPr>
        <p:txBody>
          <a:bodyPr wrap="square" lIns="0" tIns="0" rIns="0" bIns="0" rtlCol="0" anchor="ctr"/>
          <a:lstStyle/>
          <a:p>
            <a:pPr indent="0" marL="0">
              <a:buNone/>
            </a:pPr>
            <a:r>
              <a:rPr lang="en-US" sz="1300" dirty="0">
                <a:solidFill>
                  <a:srgbClr val="8A97A3"/>
                </a:solidFill>
                <a:latin typeface="Calibri" pitchFamily="34" charset="0"/>
                <a:ea typeface="Calibri" pitchFamily="34" charset="-122"/>
                <a:cs typeface="Calibri" pitchFamily="34" charset="-120"/>
              </a:rPr>
              <a:t>Built by Saud Rawdhan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Construction runs on documents nobody reads twice</a:t>
            </a:r>
            <a:endParaRPr lang="en-US" sz="3000" dirty="0"/>
          </a:p>
        </p:txBody>
      </p:sp>
      <p:sp>
        <p:nvSpPr>
          <p:cNvPr id="3" name="Text 1"/>
          <p:cNvSpPr/>
          <p:nvPr/>
        </p:nvSpPr>
        <p:spPr>
          <a:xfrm>
            <a:off x="548640" y="1600200"/>
            <a:ext cx="6035040" cy="2377440"/>
          </a:xfrm>
          <a:prstGeom prst="rect">
            <a:avLst/>
          </a:prstGeom>
          <a:noFill/>
          <a:ln/>
        </p:spPr>
        <p:txBody>
          <a:bodyPr wrap="square" lIns="0" tIns="0" rIns="0" bIns="0" rtlCol="0" anchor="ctr"/>
          <a:lstStyle/>
          <a:p>
            <a:pPr indent="0" marL="0">
              <a:lnSpc>
                <a:spcPct val="135000"/>
              </a:lnSpc>
              <a:buNone/>
            </a:pPr>
            <a:r>
              <a:rPr lang="en-US" sz="1500" dirty="0">
                <a:solidFill>
                  <a:srgbClr val="5B6B79"/>
                </a:solidFill>
                <a:latin typeface="Calibri" pitchFamily="34" charset="0"/>
                <a:ea typeface="Calibri" pitchFamily="34" charset="-122"/>
                <a:cs typeface="Calibri" pitchFamily="34" charset="-120"/>
              </a:rPr>
              <a:t>Meeting minutes, site reports, purchase requests, RFIs, and claims pile up across every project. Decisions get made, forgotten, and re-litigated. A supplier's poor delivery history sits invisible in a spreadsheet until a project is already late. When a claim goes to arbitration, nobody can quickly assemble the change orders and decisions that support it.</a:t>
            </a:r>
            <a:endParaRPr lang="en-US" sz="1500" dirty="0"/>
          </a:p>
        </p:txBody>
      </p:sp>
      <p:sp>
        <p:nvSpPr>
          <p:cNvPr id="4" name="Text 2"/>
          <p:cNvSpPr/>
          <p:nvPr/>
        </p:nvSpPr>
        <p:spPr>
          <a:xfrm>
            <a:off x="548640" y="4251960"/>
            <a:ext cx="6035040" cy="411480"/>
          </a:xfrm>
          <a:prstGeom prst="rect">
            <a:avLst/>
          </a:prstGeom>
          <a:noFill/>
          <a:ln/>
        </p:spPr>
        <p:txBody>
          <a:bodyPr wrap="square" lIns="0" tIns="0" rIns="0" bIns="0" rtlCol="0" anchor="ctr"/>
          <a:lstStyle/>
          <a:p>
            <a:pPr indent="0" marL="0">
              <a:buNone/>
            </a:pPr>
            <a:r>
              <a:rPr lang="en-US" sz="1800" b="1" i="1" dirty="0">
                <a:solidFill>
                  <a:srgbClr val="132A46"/>
                </a:solidFill>
                <a:latin typeface="Calibri" pitchFamily="34" charset="0"/>
                <a:ea typeface="Calibri" pitchFamily="34" charset="-122"/>
                <a:cs typeface="Calibri" pitchFamily="34" charset="-120"/>
              </a:rPr>
              <a:t>The problem is not missing data.</a:t>
            </a:r>
            <a:endParaRPr lang="en-US" sz="1800" dirty="0"/>
          </a:p>
        </p:txBody>
      </p:sp>
      <p:sp>
        <p:nvSpPr>
          <p:cNvPr id="5" name="Text 3"/>
          <p:cNvSpPr/>
          <p:nvPr/>
        </p:nvSpPr>
        <p:spPr>
          <a:xfrm>
            <a:off x="548640" y="4800600"/>
            <a:ext cx="6035040" cy="457200"/>
          </a:xfrm>
          <a:prstGeom prst="rect">
            <a:avLst/>
          </a:prstGeom>
          <a:noFill/>
          <a:ln/>
        </p:spPr>
        <p:txBody>
          <a:bodyPr wrap="square" lIns="0" tIns="0" rIns="0" bIns="0" rtlCol="0" anchor="ctr"/>
          <a:lstStyle/>
          <a:p>
            <a:pPr indent="0" marL="0">
              <a:buNone/>
            </a:pPr>
            <a:r>
              <a:rPr lang="en-US" sz="1800" b="1" i="1" dirty="0">
                <a:solidFill>
                  <a:srgbClr val="E8622C"/>
                </a:solidFill>
                <a:latin typeface="Calibri" pitchFamily="34" charset="0"/>
                <a:ea typeface="Calibri" pitchFamily="34" charset="-122"/>
                <a:cs typeface="Calibri" pitchFamily="34" charset="-120"/>
              </a:rPr>
              <a:t>It is that the data does not talk to itself.</a:t>
            </a:r>
            <a:endParaRPr lang="en-US" sz="1800" dirty="0"/>
          </a:p>
        </p:txBody>
      </p:sp>
      <p:sp>
        <p:nvSpPr>
          <p:cNvPr id="6" name="Shape 4"/>
          <p:cNvSpPr/>
          <p:nvPr/>
        </p:nvSpPr>
        <p:spPr>
          <a:xfrm>
            <a:off x="7818120" y="1691640"/>
            <a:ext cx="2286000" cy="777240"/>
          </a:xfrm>
          <a:prstGeom prst="roundRect">
            <a:avLst>
              <a:gd name="adj" fmla="val 11765"/>
            </a:avLst>
          </a:prstGeom>
          <a:solidFill>
            <a:srgbClr val="F4F6F8"/>
          </a:solidFill>
          <a:ln/>
          <a:effectLst>
            <a:outerShdw sx="100000" sy="100000" kx="0" ky="0" algn="bl" rotWithShape="0" blurRad="76200" dist="25400" dir="5400000">
              <a:srgbClr val="1F2937">
                <a:alpha val="12000"/>
              </a:srgbClr>
            </a:outerShdw>
          </a:effectLst>
        </p:spPr>
      </p:sp>
      <p:sp>
        <p:nvSpPr>
          <p:cNvPr id="7" name="Shape 5"/>
          <p:cNvSpPr/>
          <p:nvPr/>
        </p:nvSpPr>
        <p:spPr>
          <a:xfrm>
            <a:off x="7982712" y="1856232"/>
            <a:ext cx="457200" cy="457200"/>
          </a:xfrm>
          <a:prstGeom prst="ellipse">
            <a:avLst/>
          </a:prstGeom>
          <a:solidFill>
            <a:srgbClr val="132A46"/>
          </a:solidFill>
          <a:ln/>
        </p:spPr>
      </p:sp>
      <p:pic>
        <p:nvPicPr>
          <p:cNvPr id="8" name="Image 0" descr="preencoded.png">    </p:cNvPr>
          <p:cNvPicPr>
            <a:picLocks noChangeAspect="1"/>
          </p:cNvPicPr>
          <p:nvPr/>
        </p:nvPicPr>
        <p:blipFill>
          <a:blip r:embed="rId1"/>
          <a:stretch>
            <a:fillRect/>
          </a:stretch>
        </p:blipFill>
        <p:spPr>
          <a:xfrm>
            <a:off x="8085582" y="1959102"/>
            <a:ext cx="251460" cy="251460"/>
          </a:xfrm>
          <a:prstGeom prst="rect">
            <a:avLst/>
          </a:prstGeom>
        </p:spPr>
      </p:pic>
      <p:sp>
        <p:nvSpPr>
          <p:cNvPr id="9" name="Text 6"/>
          <p:cNvSpPr/>
          <p:nvPr/>
        </p:nvSpPr>
        <p:spPr>
          <a:xfrm>
            <a:off x="8567928" y="1691640"/>
            <a:ext cx="1417320" cy="777240"/>
          </a:xfrm>
          <a:prstGeom prst="rect">
            <a:avLst/>
          </a:prstGeom>
          <a:noFill/>
          <a:ln/>
        </p:spPr>
        <p:txBody>
          <a:bodyPr wrap="square" lIns="0" tIns="0" rIns="0" bIns="0" rtlCol="0" anchor="ctr"/>
          <a:lstStyle/>
          <a:p>
            <a:pPr indent="0" marL="0">
              <a:buNone/>
            </a:pPr>
            <a:r>
              <a:rPr lang="en-US" sz="1250" b="1" dirty="0">
                <a:solidFill>
                  <a:srgbClr val="132A46"/>
                </a:solidFill>
                <a:latin typeface="Calibri" pitchFamily="34" charset="0"/>
                <a:ea typeface="Calibri" pitchFamily="34" charset="-122"/>
                <a:cs typeface="Calibri" pitchFamily="34" charset="-120"/>
              </a:rPr>
              <a:t>Meeting minutes</a:t>
            </a:r>
            <a:endParaRPr lang="en-US" sz="1250" dirty="0"/>
          </a:p>
        </p:txBody>
      </p:sp>
      <p:sp>
        <p:nvSpPr>
          <p:cNvPr id="10" name="Shape 7"/>
          <p:cNvSpPr/>
          <p:nvPr/>
        </p:nvSpPr>
        <p:spPr>
          <a:xfrm>
            <a:off x="8229600" y="2606040"/>
            <a:ext cx="2286000" cy="777240"/>
          </a:xfrm>
          <a:prstGeom prst="roundRect">
            <a:avLst>
              <a:gd name="adj" fmla="val 11765"/>
            </a:avLst>
          </a:prstGeom>
          <a:solidFill>
            <a:srgbClr val="F4F6F8"/>
          </a:solidFill>
          <a:ln/>
          <a:effectLst>
            <a:outerShdw sx="100000" sy="100000" kx="0" ky="0" algn="bl" rotWithShape="0" blurRad="76200" dist="25400" dir="5400000">
              <a:srgbClr val="1F2937">
                <a:alpha val="12000"/>
              </a:srgbClr>
            </a:outerShdw>
          </a:effectLst>
        </p:spPr>
      </p:sp>
      <p:sp>
        <p:nvSpPr>
          <p:cNvPr id="11" name="Shape 8"/>
          <p:cNvSpPr/>
          <p:nvPr/>
        </p:nvSpPr>
        <p:spPr>
          <a:xfrm>
            <a:off x="8394192" y="2770632"/>
            <a:ext cx="457200" cy="457200"/>
          </a:xfrm>
          <a:prstGeom prst="ellipse">
            <a:avLst/>
          </a:prstGeom>
          <a:solidFill>
            <a:srgbClr val="132A46"/>
          </a:solidFill>
          <a:ln/>
        </p:spPr>
      </p:sp>
      <p:pic>
        <p:nvPicPr>
          <p:cNvPr id="12" name="Image 1" descr="preencoded.png">    </p:cNvPr>
          <p:cNvPicPr>
            <a:picLocks noChangeAspect="1"/>
          </p:cNvPicPr>
          <p:nvPr/>
        </p:nvPicPr>
        <p:blipFill>
          <a:blip r:embed="rId2"/>
          <a:stretch>
            <a:fillRect/>
          </a:stretch>
        </p:blipFill>
        <p:spPr>
          <a:xfrm>
            <a:off x="8497062" y="2873502"/>
            <a:ext cx="251460" cy="251460"/>
          </a:xfrm>
          <a:prstGeom prst="rect">
            <a:avLst/>
          </a:prstGeom>
        </p:spPr>
      </p:pic>
      <p:sp>
        <p:nvSpPr>
          <p:cNvPr id="13" name="Text 9"/>
          <p:cNvSpPr/>
          <p:nvPr/>
        </p:nvSpPr>
        <p:spPr>
          <a:xfrm>
            <a:off x="8979408" y="2606040"/>
            <a:ext cx="1417320" cy="777240"/>
          </a:xfrm>
          <a:prstGeom prst="rect">
            <a:avLst/>
          </a:prstGeom>
          <a:noFill/>
          <a:ln/>
        </p:spPr>
        <p:txBody>
          <a:bodyPr wrap="square" lIns="0" tIns="0" rIns="0" bIns="0" rtlCol="0" anchor="ctr"/>
          <a:lstStyle/>
          <a:p>
            <a:pPr indent="0" marL="0">
              <a:buNone/>
            </a:pPr>
            <a:r>
              <a:rPr lang="en-US" sz="1250" b="1" dirty="0">
                <a:solidFill>
                  <a:srgbClr val="132A46"/>
                </a:solidFill>
                <a:latin typeface="Calibri" pitchFamily="34" charset="0"/>
                <a:ea typeface="Calibri" pitchFamily="34" charset="-122"/>
                <a:cs typeface="Calibri" pitchFamily="34" charset="-120"/>
              </a:rPr>
              <a:t>Site reports</a:t>
            </a:r>
            <a:endParaRPr lang="en-US" sz="1250" dirty="0"/>
          </a:p>
        </p:txBody>
      </p:sp>
      <p:sp>
        <p:nvSpPr>
          <p:cNvPr id="14" name="Shape 10"/>
          <p:cNvSpPr/>
          <p:nvPr/>
        </p:nvSpPr>
        <p:spPr>
          <a:xfrm>
            <a:off x="7818120" y="3520440"/>
            <a:ext cx="2286000" cy="777240"/>
          </a:xfrm>
          <a:prstGeom prst="roundRect">
            <a:avLst>
              <a:gd name="adj" fmla="val 11765"/>
            </a:avLst>
          </a:prstGeom>
          <a:solidFill>
            <a:srgbClr val="F4F6F8"/>
          </a:solidFill>
          <a:ln/>
          <a:effectLst>
            <a:outerShdw sx="100000" sy="100000" kx="0" ky="0" algn="bl" rotWithShape="0" blurRad="76200" dist="25400" dir="5400000">
              <a:srgbClr val="1F2937">
                <a:alpha val="12000"/>
              </a:srgbClr>
            </a:outerShdw>
          </a:effectLst>
        </p:spPr>
      </p:sp>
      <p:sp>
        <p:nvSpPr>
          <p:cNvPr id="15" name="Shape 11"/>
          <p:cNvSpPr/>
          <p:nvPr/>
        </p:nvSpPr>
        <p:spPr>
          <a:xfrm>
            <a:off x="7982712" y="3685032"/>
            <a:ext cx="457200" cy="457200"/>
          </a:xfrm>
          <a:prstGeom prst="ellipse">
            <a:avLst/>
          </a:prstGeom>
          <a:solidFill>
            <a:srgbClr val="132A46"/>
          </a:solidFill>
          <a:ln/>
        </p:spPr>
      </p:sp>
      <p:pic>
        <p:nvPicPr>
          <p:cNvPr id="16" name="Image 2" descr="preencoded.png">    </p:cNvPr>
          <p:cNvPicPr>
            <a:picLocks noChangeAspect="1"/>
          </p:cNvPicPr>
          <p:nvPr/>
        </p:nvPicPr>
        <p:blipFill>
          <a:blip r:embed="rId3"/>
          <a:stretch>
            <a:fillRect/>
          </a:stretch>
        </p:blipFill>
        <p:spPr>
          <a:xfrm>
            <a:off x="8085582" y="3787902"/>
            <a:ext cx="251460" cy="251460"/>
          </a:xfrm>
          <a:prstGeom prst="rect">
            <a:avLst/>
          </a:prstGeom>
        </p:spPr>
      </p:pic>
      <p:sp>
        <p:nvSpPr>
          <p:cNvPr id="17" name="Text 12"/>
          <p:cNvSpPr/>
          <p:nvPr/>
        </p:nvSpPr>
        <p:spPr>
          <a:xfrm>
            <a:off x="8567928" y="3520440"/>
            <a:ext cx="1417320" cy="777240"/>
          </a:xfrm>
          <a:prstGeom prst="rect">
            <a:avLst/>
          </a:prstGeom>
          <a:noFill/>
          <a:ln/>
        </p:spPr>
        <p:txBody>
          <a:bodyPr wrap="square" lIns="0" tIns="0" rIns="0" bIns="0" rtlCol="0" anchor="ctr"/>
          <a:lstStyle/>
          <a:p>
            <a:pPr indent="0" marL="0">
              <a:buNone/>
            </a:pPr>
            <a:r>
              <a:rPr lang="en-US" sz="1250" b="1" dirty="0">
                <a:solidFill>
                  <a:srgbClr val="132A46"/>
                </a:solidFill>
                <a:latin typeface="Calibri" pitchFamily="34" charset="0"/>
                <a:ea typeface="Calibri" pitchFamily="34" charset="-122"/>
                <a:cs typeface="Calibri" pitchFamily="34" charset="-120"/>
              </a:rPr>
              <a:t>Purchase requests</a:t>
            </a:r>
            <a:endParaRPr lang="en-US" sz="1250" dirty="0"/>
          </a:p>
        </p:txBody>
      </p:sp>
      <p:sp>
        <p:nvSpPr>
          <p:cNvPr id="18" name="Shape 13"/>
          <p:cNvSpPr/>
          <p:nvPr/>
        </p:nvSpPr>
        <p:spPr>
          <a:xfrm>
            <a:off x="8275320" y="4434840"/>
            <a:ext cx="2286000" cy="777240"/>
          </a:xfrm>
          <a:prstGeom prst="roundRect">
            <a:avLst>
              <a:gd name="adj" fmla="val 11765"/>
            </a:avLst>
          </a:prstGeom>
          <a:solidFill>
            <a:srgbClr val="F4F6F8"/>
          </a:solidFill>
          <a:ln/>
          <a:effectLst>
            <a:outerShdw sx="100000" sy="100000" kx="0" ky="0" algn="bl" rotWithShape="0" blurRad="76200" dist="25400" dir="5400000">
              <a:srgbClr val="1F2937">
                <a:alpha val="12000"/>
              </a:srgbClr>
            </a:outerShdw>
          </a:effectLst>
        </p:spPr>
      </p:sp>
      <p:sp>
        <p:nvSpPr>
          <p:cNvPr id="19" name="Shape 14"/>
          <p:cNvSpPr/>
          <p:nvPr/>
        </p:nvSpPr>
        <p:spPr>
          <a:xfrm>
            <a:off x="8439912" y="4599432"/>
            <a:ext cx="457200" cy="457200"/>
          </a:xfrm>
          <a:prstGeom prst="ellipse">
            <a:avLst/>
          </a:prstGeom>
          <a:solidFill>
            <a:srgbClr val="132A46"/>
          </a:solidFill>
          <a:ln/>
        </p:spPr>
      </p:sp>
      <p:pic>
        <p:nvPicPr>
          <p:cNvPr id="20" name="Image 3" descr="preencoded.png">    </p:cNvPr>
          <p:cNvPicPr>
            <a:picLocks noChangeAspect="1"/>
          </p:cNvPicPr>
          <p:nvPr/>
        </p:nvPicPr>
        <p:blipFill>
          <a:blip r:embed="rId4"/>
          <a:stretch>
            <a:fillRect/>
          </a:stretch>
        </p:blipFill>
        <p:spPr>
          <a:xfrm>
            <a:off x="8542782" y="4702302"/>
            <a:ext cx="251460" cy="251460"/>
          </a:xfrm>
          <a:prstGeom prst="rect">
            <a:avLst/>
          </a:prstGeom>
        </p:spPr>
      </p:pic>
      <p:sp>
        <p:nvSpPr>
          <p:cNvPr id="21" name="Text 15"/>
          <p:cNvSpPr/>
          <p:nvPr/>
        </p:nvSpPr>
        <p:spPr>
          <a:xfrm>
            <a:off x="9025128" y="4434840"/>
            <a:ext cx="1417320" cy="777240"/>
          </a:xfrm>
          <a:prstGeom prst="rect">
            <a:avLst/>
          </a:prstGeom>
          <a:noFill/>
          <a:ln/>
        </p:spPr>
        <p:txBody>
          <a:bodyPr wrap="square" lIns="0" tIns="0" rIns="0" bIns="0" rtlCol="0" anchor="ctr"/>
          <a:lstStyle/>
          <a:p>
            <a:pPr indent="0" marL="0">
              <a:buNone/>
            </a:pPr>
            <a:r>
              <a:rPr lang="en-US" sz="1250" b="1" dirty="0">
                <a:solidFill>
                  <a:srgbClr val="132A46"/>
                </a:solidFill>
                <a:latin typeface="Calibri" pitchFamily="34" charset="0"/>
                <a:ea typeface="Calibri" pitchFamily="34" charset="-122"/>
                <a:cs typeface="Calibri" pitchFamily="34" charset="-120"/>
              </a:rPr>
              <a:t>RFIs</a:t>
            </a:r>
            <a:endParaRPr lang="en-US" sz="1250" dirty="0"/>
          </a:p>
        </p:txBody>
      </p:sp>
      <p:sp>
        <p:nvSpPr>
          <p:cNvPr id="22" name="Shape 16"/>
          <p:cNvSpPr/>
          <p:nvPr/>
        </p:nvSpPr>
        <p:spPr>
          <a:xfrm>
            <a:off x="7955280" y="5349240"/>
            <a:ext cx="2286000" cy="777240"/>
          </a:xfrm>
          <a:prstGeom prst="roundRect">
            <a:avLst>
              <a:gd name="adj" fmla="val 11765"/>
            </a:avLst>
          </a:prstGeom>
          <a:solidFill>
            <a:srgbClr val="F4F6F8"/>
          </a:solidFill>
          <a:ln/>
          <a:effectLst>
            <a:outerShdw sx="100000" sy="100000" kx="0" ky="0" algn="bl" rotWithShape="0" blurRad="76200" dist="25400" dir="5400000">
              <a:srgbClr val="1F2937">
                <a:alpha val="12000"/>
              </a:srgbClr>
            </a:outerShdw>
          </a:effectLst>
        </p:spPr>
      </p:sp>
      <p:sp>
        <p:nvSpPr>
          <p:cNvPr id="23" name="Shape 17"/>
          <p:cNvSpPr/>
          <p:nvPr/>
        </p:nvSpPr>
        <p:spPr>
          <a:xfrm>
            <a:off x="8119872" y="5513832"/>
            <a:ext cx="457200" cy="457200"/>
          </a:xfrm>
          <a:prstGeom prst="ellipse">
            <a:avLst/>
          </a:prstGeom>
          <a:solidFill>
            <a:srgbClr val="132A46"/>
          </a:solidFill>
          <a:ln/>
        </p:spPr>
      </p:sp>
      <p:pic>
        <p:nvPicPr>
          <p:cNvPr id="24" name="Image 4" descr="preencoded.png">    </p:cNvPr>
          <p:cNvPicPr>
            <a:picLocks noChangeAspect="1"/>
          </p:cNvPicPr>
          <p:nvPr/>
        </p:nvPicPr>
        <p:blipFill>
          <a:blip r:embed="rId5"/>
          <a:stretch>
            <a:fillRect/>
          </a:stretch>
        </p:blipFill>
        <p:spPr>
          <a:xfrm>
            <a:off x="8222742" y="5616702"/>
            <a:ext cx="251460" cy="251460"/>
          </a:xfrm>
          <a:prstGeom prst="rect">
            <a:avLst/>
          </a:prstGeom>
        </p:spPr>
      </p:pic>
      <p:sp>
        <p:nvSpPr>
          <p:cNvPr id="25" name="Text 18"/>
          <p:cNvSpPr/>
          <p:nvPr/>
        </p:nvSpPr>
        <p:spPr>
          <a:xfrm>
            <a:off x="8705088" y="5349240"/>
            <a:ext cx="1417320" cy="777240"/>
          </a:xfrm>
          <a:prstGeom prst="rect">
            <a:avLst/>
          </a:prstGeom>
          <a:noFill/>
          <a:ln/>
        </p:spPr>
        <p:txBody>
          <a:bodyPr wrap="square" lIns="0" tIns="0" rIns="0" bIns="0" rtlCol="0" anchor="ctr"/>
          <a:lstStyle/>
          <a:p>
            <a:pPr indent="0" marL="0">
              <a:buNone/>
            </a:pPr>
            <a:r>
              <a:rPr lang="en-US" sz="1250" b="1" dirty="0">
                <a:solidFill>
                  <a:srgbClr val="132A46"/>
                </a:solidFill>
                <a:latin typeface="Calibri" pitchFamily="34" charset="0"/>
                <a:ea typeface="Calibri" pitchFamily="34" charset="-122"/>
                <a:cs typeface="Calibri" pitchFamily="34" charset="-120"/>
              </a:rPr>
              <a:t>Claims</a:t>
            </a:r>
            <a:endParaRPr lang="en-US" sz="1250" dirty="0"/>
          </a:p>
        </p:txBody>
      </p:sp>
      <p:sp>
        <p:nvSpPr>
          <p:cNvPr id="26" name="Text 19"/>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27" name="Text 20"/>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One platform that turns paperwork into decisions</a:t>
            </a:r>
            <a:endParaRPr lang="en-US" sz="3000" dirty="0"/>
          </a:p>
        </p:txBody>
      </p:sp>
      <p:sp>
        <p:nvSpPr>
          <p:cNvPr id="3" name="Text 1"/>
          <p:cNvSpPr/>
          <p:nvPr/>
        </p:nvSpPr>
        <p:spPr>
          <a:xfrm>
            <a:off x="548640" y="1371600"/>
            <a:ext cx="11094415" cy="960120"/>
          </a:xfrm>
          <a:prstGeom prst="rect">
            <a:avLst/>
          </a:prstGeom>
          <a:noFill/>
          <a:ln/>
        </p:spPr>
        <p:txBody>
          <a:bodyPr wrap="square" lIns="0" tIns="0" rIns="0" bIns="0" rtlCol="0" anchor="ctr"/>
          <a:lstStyle/>
          <a:p>
            <a:pPr indent="0" marL="0">
              <a:lnSpc>
                <a:spcPct val="130000"/>
              </a:lnSpc>
              <a:buNone/>
            </a:pPr>
            <a:r>
              <a:rPr lang="en-US" sz="1450" dirty="0">
                <a:solidFill>
                  <a:srgbClr val="5B6B79"/>
                </a:solidFill>
                <a:latin typeface="Calibri" pitchFamily="34" charset="0"/>
                <a:ea typeface="Calibri" pitchFamily="34" charset="-122"/>
                <a:cs typeface="Calibri" pitchFamily="34" charset="-120"/>
              </a:rPr>
              <a:t>The platform ingests project data, keeps an organizational memory of what was decided and why, runs AI workflows over the operational record, and answers management's questions — every AI answer traced back to the records it came from, every high-risk action held behind human approval.</a:t>
            </a:r>
            <a:endParaRPr lang="en-US" sz="1450" dirty="0"/>
          </a:p>
        </p:txBody>
      </p:sp>
      <p:sp>
        <p:nvSpPr>
          <p:cNvPr id="4" name="Shape 2"/>
          <p:cNvSpPr/>
          <p:nvPr/>
        </p:nvSpPr>
        <p:spPr>
          <a:xfrm>
            <a:off x="502920" y="2785260"/>
            <a:ext cx="5349240" cy="2567641"/>
          </a:xfrm>
          <a:prstGeom prst="roundRect">
            <a:avLst>
              <a:gd name="adj" fmla="val 2849"/>
            </a:avLst>
          </a:prstGeom>
          <a:solidFill>
            <a:srgbClr val="FFFFFF"/>
          </a:solidFill>
          <a:ln w="12700">
            <a:solidFill>
              <a:srgbClr val="E2E6EA"/>
            </a:solidFill>
            <a:prstDash val="solid"/>
          </a:ln>
          <a:effectLst>
            <a:outerShdw sx="100000" sy="100000" kx="0" ky="0" algn="bl" rotWithShape="0" blurRad="127000" dist="38100" dir="5400000">
              <a:srgbClr val="1F2937">
                <a:alpha val="18000"/>
              </a:srgbClr>
            </a:outerShdw>
          </a:effectLst>
        </p:spPr>
      </p:sp>
      <p:pic>
        <p:nvPicPr>
          <p:cNvPr id="5" name="Image 0" descr="Executive Dashboard showing portfolio KPIs">    </p:cNvPr>
          <p:cNvPicPr>
            <a:picLocks noChangeAspect="1"/>
          </p:cNvPicPr>
          <p:nvPr/>
        </p:nvPicPr>
        <p:blipFill>
          <a:blip r:embed="rId1"/>
          <a:stretch>
            <a:fillRect/>
          </a:stretch>
        </p:blipFill>
        <p:spPr>
          <a:xfrm>
            <a:off x="548640" y="2830980"/>
            <a:ext cx="5257800" cy="2476201"/>
          </a:xfrm>
          <a:prstGeom prst="rect">
            <a:avLst/>
          </a:prstGeom>
        </p:spPr>
      </p:pic>
      <p:sp>
        <p:nvSpPr>
          <p:cNvPr id="6" name="Text 3"/>
          <p:cNvSpPr/>
          <p:nvPr/>
        </p:nvSpPr>
        <p:spPr>
          <a:xfrm>
            <a:off x="548640" y="5416908"/>
            <a:ext cx="5257800" cy="320040"/>
          </a:xfrm>
          <a:prstGeom prst="rect">
            <a:avLst/>
          </a:prstGeom>
          <a:noFill/>
          <a:ln/>
        </p:spPr>
        <p:txBody>
          <a:bodyPr wrap="square" lIns="0" tIns="0" rIns="0" bIns="0" rtlCol="0" anchor="ctr"/>
          <a:lstStyle/>
          <a:p>
            <a:pPr indent="0" marL="0">
              <a:buNone/>
            </a:pPr>
            <a:r>
              <a:rPr lang="en-US" sz="1100" i="1" dirty="0">
                <a:solidFill>
                  <a:srgbClr val="8A97A3"/>
                </a:solidFill>
                <a:latin typeface="Calibri" pitchFamily="34" charset="0"/>
                <a:ea typeface="Calibri" pitchFamily="34" charset="-122"/>
                <a:cs typeface="Calibri" pitchFamily="34" charset="-120"/>
              </a:rPr>
              <a:t>Executive Dashboard — real portfolio KPIs at a glance</a:t>
            </a:r>
            <a:endParaRPr lang="en-US" sz="1100" dirty="0"/>
          </a:p>
        </p:txBody>
      </p:sp>
      <p:sp>
        <p:nvSpPr>
          <p:cNvPr id="7" name="Shape 4"/>
          <p:cNvSpPr/>
          <p:nvPr/>
        </p:nvSpPr>
        <p:spPr>
          <a:xfrm>
            <a:off x="6126480" y="2652360"/>
            <a:ext cx="5349240" cy="2833441"/>
          </a:xfrm>
          <a:prstGeom prst="roundRect">
            <a:avLst>
              <a:gd name="adj" fmla="val 2582"/>
            </a:avLst>
          </a:prstGeom>
          <a:solidFill>
            <a:srgbClr val="FFFFFF"/>
          </a:solidFill>
          <a:ln w="12700">
            <a:solidFill>
              <a:srgbClr val="E2E6EA"/>
            </a:solidFill>
            <a:prstDash val="solid"/>
          </a:ln>
          <a:effectLst>
            <a:outerShdw sx="100000" sy="100000" kx="0" ky="0" algn="bl" rotWithShape="0" blurRad="127000" dist="38100" dir="5400000">
              <a:srgbClr val="1F2937">
                <a:alpha val="18000"/>
              </a:srgbClr>
            </a:outerShdw>
          </a:effectLst>
        </p:spPr>
      </p:sp>
      <p:pic>
        <p:nvPicPr>
          <p:cNvPr id="8" name="Image 1" descr="Project risk register for Riyadh Hospital Project 3">    </p:cNvPr>
          <p:cNvPicPr>
            <a:picLocks noChangeAspect="1"/>
          </p:cNvPicPr>
          <p:nvPr/>
        </p:nvPicPr>
        <p:blipFill>
          <a:blip r:embed="rId2"/>
          <a:stretch>
            <a:fillRect/>
          </a:stretch>
        </p:blipFill>
        <p:spPr>
          <a:xfrm>
            <a:off x="6172200" y="2698080"/>
            <a:ext cx="5257800" cy="2742001"/>
          </a:xfrm>
          <a:prstGeom prst="rect">
            <a:avLst/>
          </a:prstGeom>
        </p:spPr>
      </p:pic>
      <p:sp>
        <p:nvSpPr>
          <p:cNvPr id="9" name="Text 5"/>
          <p:cNvSpPr/>
          <p:nvPr/>
        </p:nvSpPr>
        <p:spPr>
          <a:xfrm>
            <a:off x="6172200" y="5549808"/>
            <a:ext cx="5257800" cy="320040"/>
          </a:xfrm>
          <a:prstGeom prst="rect">
            <a:avLst/>
          </a:prstGeom>
          <a:noFill/>
          <a:ln/>
        </p:spPr>
        <p:txBody>
          <a:bodyPr wrap="square" lIns="0" tIns="0" rIns="0" bIns="0" rtlCol="0" anchor="ctr"/>
          <a:lstStyle/>
          <a:p>
            <a:pPr indent="0" marL="0">
              <a:buNone/>
            </a:pPr>
            <a:r>
              <a:rPr lang="en-US" sz="1100" i="1" dirty="0">
                <a:solidFill>
                  <a:srgbClr val="8A97A3"/>
                </a:solidFill>
                <a:latin typeface="Calibri" pitchFamily="34" charset="0"/>
                <a:ea typeface="Calibri" pitchFamily="34" charset="-122"/>
                <a:cs typeface="Calibri" pitchFamily="34" charset="-120"/>
              </a:rPr>
              <a:t>Project workspace — risk register for a live project</a:t>
            </a:r>
            <a:endParaRPr lang="en-US" sz="1100" dirty="0"/>
          </a:p>
        </p:txBody>
      </p:sp>
      <p:sp>
        <p:nvSpPr>
          <p:cNvPr id="10" name="Text 6"/>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11" name="Text 7"/>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Nine modules, one shared operational record</a:t>
            </a:r>
            <a:endParaRPr lang="en-US" sz="3000" dirty="0"/>
          </a:p>
        </p:txBody>
      </p:sp>
      <p:sp>
        <p:nvSpPr>
          <p:cNvPr id="3" name="Text 1"/>
          <p:cNvSpPr/>
          <p:nvPr/>
        </p:nvSpPr>
        <p:spPr>
          <a:xfrm>
            <a:off x="548640" y="1234440"/>
            <a:ext cx="11094415" cy="548640"/>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Everything a project team touches lives in the same system — queryable, filterable, and connected across modules, not siloed spreadsheets.</a:t>
            </a:r>
            <a:endParaRPr lang="en-US" sz="1400" dirty="0"/>
          </a:p>
        </p:txBody>
      </p:sp>
      <p:sp>
        <p:nvSpPr>
          <p:cNvPr id="4" name="Shape 2"/>
          <p:cNvSpPr/>
          <p:nvPr/>
        </p:nvSpPr>
        <p:spPr>
          <a:xfrm>
            <a:off x="548640" y="2057400"/>
            <a:ext cx="3520440" cy="1234440"/>
          </a:xfrm>
          <a:prstGeom prst="roundRect">
            <a:avLst>
              <a:gd name="adj" fmla="val 7407"/>
            </a:avLst>
          </a:prstGeom>
          <a:solidFill>
            <a:srgbClr val="F4F6F8"/>
          </a:solidFill>
          <a:ln/>
        </p:spPr>
      </p:sp>
      <p:sp>
        <p:nvSpPr>
          <p:cNvPr id="5" name="Shape 3"/>
          <p:cNvSpPr/>
          <p:nvPr/>
        </p:nvSpPr>
        <p:spPr>
          <a:xfrm>
            <a:off x="731520" y="2382012"/>
            <a:ext cx="585216" cy="585216"/>
          </a:xfrm>
          <a:prstGeom prst="ellipse">
            <a:avLst/>
          </a:prstGeom>
          <a:solidFill>
            <a:srgbClr val="132A46"/>
          </a:solidFill>
          <a:ln/>
        </p:spPr>
      </p:sp>
      <p:pic>
        <p:nvPicPr>
          <p:cNvPr id="6" name="Image 0" descr="preencoded.png">    </p:cNvPr>
          <p:cNvPicPr>
            <a:picLocks noChangeAspect="1"/>
          </p:cNvPicPr>
          <p:nvPr/>
        </p:nvPicPr>
        <p:blipFill>
          <a:blip r:embed="rId1"/>
          <a:stretch>
            <a:fillRect/>
          </a:stretch>
        </p:blipFill>
        <p:spPr>
          <a:xfrm>
            <a:off x="863194" y="2513686"/>
            <a:ext cx="321869" cy="321869"/>
          </a:xfrm>
          <a:prstGeom prst="rect">
            <a:avLst/>
          </a:prstGeom>
        </p:spPr>
      </p:pic>
      <p:sp>
        <p:nvSpPr>
          <p:cNvPr id="7" name="Text 4"/>
          <p:cNvSpPr/>
          <p:nvPr/>
        </p:nvSpPr>
        <p:spPr>
          <a:xfrm>
            <a:off x="1463040" y="2203704"/>
            <a:ext cx="2468880" cy="384048"/>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Projects</a:t>
            </a:r>
            <a:endParaRPr lang="en-US" sz="1350" dirty="0"/>
          </a:p>
        </p:txBody>
      </p:sp>
      <p:sp>
        <p:nvSpPr>
          <p:cNvPr id="8" name="Text 5"/>
          <p:cNvSpPr/>
          <p:nvPr/>
        </p:nvSpPr>
        <p:spPr>
          <a:xfrm>
            <a:off x="1463040" y="2624328"/>
            <a:ext cx="2468880" cy="502920"/>
          </a:xfrm>
          <a:prstGeom prst="rect">
            <a:avLst/>
          </a:prstGeom>
          <a:noFill/>
          <a:ln/>
        </p:spPr>
        <p:txBody>
          <a:bodyPr wrap="square" lIns="0" tIns="0" rIns="0" bIns="0" rtlCol="0" anchor="ctr"/>
          <a:lstStyle/>
          <a:p>
            <a:pPr indent="0" marL="0">
              <a:lnSpc>
                <a:spcPct val="115000"/>
              </a:lnSpc>
              <a:buNone/>
            </a:pPr>
            <a:r>
              <a:rPr lang="en-US" sz="1100" dirty="0">
                <a:solidFill>
                  <a:srgbClr val="5B6B79"/>
                </a:solidFill>
                <a:latin typeface="Calibri" pitchFamily="34" charset="0"/>
                <a:ea typeface="Calibri" pitchFamily="34" charset="-122"/>
                <a:cs typeface="Calibri" pitchFamily="34" charset="-120"/>
              </a:rPr>
              <a:t>Portfolio, budgets, milestones</a:t>
            </a:r>
            <a:endParaRPr lang="en-US" sz="1100" dirty="0"/>
          </a:p>
        </p:txBody>
      </p:sp>
      <p:sp>
        <p:nvSpPr>
          <p:cNvPr id="9" name="Shape 6"/>
          <p:cNvSpPr/>
          <p:nvPr/>
        </p:nvSpPr>
        <p:spPr>
          <a:xfrm>
            <a:off x="4297680" y="2057400"/>
            <a:ext cx="3520440" cy="1234440"/>
          </a:xfrm>
          <a:prstGeom prst="roundRect">
            <a:avLst>
              <a:gd name="adj" fmla="val 7407"/>
            </a:avLst>
          </a:prstGeom>
          <a:solidFill>
            <a:srgbClr val="F4F6F8"/>
          </a:solidFill>
          <a:ln/>
        </p:spPr>
      </p:sp>
      <p:sp>
        <p:nvSpPr>
          <p:cNvPr id="10" name="Shape 7"/>
          <p:cNvSpPr/>
          <p:nvPr/>
        </p:nvSpPr>
        <p:spPr>
          <a:xfrm>
            <a:off x="4480560" y="2382012"/>
            <a:ext cx="585216" cy="585216"/>
          </a:xfrm>
          <a:prstGeom prst="ellipse">
            <a:avLst/>
          </a:prstGeom>
          <a:solidFill>
            <a:srgbClr val="132A46"/>
          </a:solidFill>
          <a:ln/>
        </p:spPr>
      </p:sp>
      <p:pic>
        <p:nvPicPr>
          <p:cNvPr id="11" name="Image 1" descr="preencoded.png">    </p:cNvPr>
          <p:cNvPicPr>
            <a:picLocks noChangeAspect="1"/>
          </p:cNvPicPr>
          <p:nvPr/>
        </p:nvPicPr>
        <p:blipFill>
          <a:blip r:embed="rId2"/>
          <a:stretch>
            <a:fillRect/>
          </a:stretch>
        </p:blipFill>
        <p:spPr>
          <a:xfrm>
            <a:off x="4612234" y="2513686"/>
            <a:ext cx="321869" cy="321869"/>
          </a:xfrm>
          <a:prstGeom prst="rect">
            <a:avLst/>
          </a:prstGeom>
        </p:spPr>
      </p:pic>
      <p:sp>
        <p:nvSpPr>
          <p:cNvPr id="12" name="Text 8"/>
          <p:cNvSpPr/>
          <p:nvPr/>
        </p:nvSpPr>
        <p:spPr>
          <a:xfrm>
            <a:off x="5212080" y="2203704"/>
            <a:ext cx="2468880" cy="384048"/>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Procurement</a:t>
            </a:r>
            <a:endParaRPr lang="en-US" sz="1350" dirty="0"/>
          </a:p>
        </p:txBody>
      </p:sp>
      <p:sp>
        <p:nvSpPr>
          <p:cNvPr id="13" name="Text 9"/>
          <p:cNvSpPr/>
          <p:nvPr/>
        </p:nvSpPr>
        <p:spPr>
          <a:xfrm>
            <a:off x="5212080" y="2624328"/>
            <a:ext cx="2468880" cy="502920"/>
          </a:xfrm>
          <a:prstGeom prst="rect">
            <a:avLst/>
          </a:prstGeom>
          <a:noFill/>
          <a:ln/>
        </p:spPr>
        <p:txBody>
          <a:bodyPr wrap="square" lIns="0" tIns="0" rIns="0" bIns="0" rtlCol="0" anchor="ctr"/>
          <a:lstStyle/>
          <a:p>
            <a:pPr indent="0" marL="0">
              <a:lnSpc>
                <a:spcPct val="115000"/>
              </a:lnSpc>
              <a:buNone/>
            </a:pPr>
            <a:r>
              <a:rPr lang="en-US" sz="1100" dirty="0">
                <a:solidFill>
                  <a:srgbClr val="5B6B79"/>
                </a:solidFill>
                <a:latin typeface="Calibri" pitchFamily="34" charset="0"/>
                <a:ea typeface="Calibri" pitchFamily="34" charset="-122"/>
                <a:cs typeface="Calibri" pitchFamily="34" charset="-120"/>
              </a:rPr>
              <a:t>Requests, orders, suppliers</a:t>
            </a:r>
            <a:endParaRPr lang="en-US" sz="1100" dirty="0"/>
          </a:p>
        </p:txBody>
      </p:sp>
      <p:sp>
        <p:nvSpPr>
          <p:cNvPr id="14" name="Shape 10"/>
          <p:cNvSpPr/>
          <p:nvPr/>
        </p:nvSpPr>
        <p:spPr>
          <a:xfrm>
            <a:off x="8046720" y="2057400"/>
            <a:ext cx="3520440" cy="1234440"/>
          </a:xfrm>
          <a:prstGeom prst="roundRect">
            <a:avLst>
              <a:gd name="adj" fmla="val 7407"/>
            </a:avLst>
          </a:prstGeom>
          <a:solidFill>
            <a:srgbClr val="F4F6F8"/>
          </a:solidFill>
          <a:ln/>
        </p:spPr>
      </p:sp>
      <p:sp>
        <p:nvSpPr>
          <p:cNvPr id="15" name="Shape 11"/>
          <p:cNvSpPr/>
          <p:nvPr/>
        </p:nvSpPr>
        <p:spPr>
          <a:xfrm>
            <a:off x="8229600" y="2382012"/>
            <a:ext cx="585216" cy="585216"/>
          </a:xfrm>
          <a:prstGeom prst="ellipse">
            <a:avLst/>
          </a:prstGeom>
          <a:solidFill>
            <a:srgbClr val="132A46"/>
          </a:solidFill>
          <a:ln/>
        </p:spPr>
      </p:sp>
      <p:pic>
        <p:nvPicPr>
          <p:cNvPr id="16" name="Image 2" descr="preencoded.png">    </p:cNvPr>
          <p:cNvPicPr>
            <a:picLocks noChangeAspect="1"/>
          </p:cNvPicPr>
          <p:nvPr/>
        </p:nvPicPr>
        <p:blipFill>
          <a:blip r:embed="rId3"/>
          <a:stretch>
            <a:fillRect/>
          </a:stretch>
        </p:blipFill>
        <p:spPr>
          <a:xfrm>
            <a:off x="8361274" y="2513686"/>
            <a:ext cx="321869" cy="321869"/>
          </a:xfrm>
          <a:prstGeom prst="rect">
            <a:avLst/>
          </a:prstGeom>
        </p:spPr>
      </p:pic>
      <p:sp>
        <p:nvSpPr>
          <p:cNvPr id="17" name="Text 12"/>
          <p:cNvSpPr/>
          <p:nvPr/>
        </p:nvSpPr>
        <p:spPr>
          <a:xfrm>
            <a:off x="8961120" y="2203704"/>
            <a:ext cx="2468880" cy="384048"/>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RFIs &amp; Change Orders</a:t>
            </a:r>
            <a:endParaRPr lang="en-US" sz="1350" dirty="0"/>
          </a:p>
        </p:txBody>
      </p:sp>
      <p:sp>
        <p:nvSpPr>
          <p:cNvPr id="18" name="Text 13"/>
          <p:cNvSpPr/>
          <p:nvPr/>
        </p:nvSpPr>
        <p:spPr>
          <a:xfrm>
            <a:off x="8961120" y="2624328"/>
            <a:ext cx="2468880" cy="502920"/>
          </a:xfrm>
          <a:prstGeom prst="rect">
            <a:avLst/>
          </a:prstGeom>
          <a:noFill/>
          <a:ln/>
        </p:spPr>
        <p:txBody>
          <a:bodyPr wrap="square" lIns="0" tIns="0" rIns="0" bIns="0" rtlCol="0" anchor="ctr"/>
          <a:lstStyle/>
          <a:p>
            <a:pPr indent="0" marL="0">
              <a:lnSpc>
                <a:spcPct val="115000"/>
              </a:lnSpc>
              <a:buNone/>
            </a:pPr>
            <a:r>
              <a:rPr lang="en-US" sz="1100" dirty="0">
                <a:solidFill>
                  <a:srgbClr val="5B6B79"/>
                </a:solidFill>
                <a:latin typeface="Calibri" pitchFamily="34" charset="0"/>
                <a:ea typeface="Calibri" pitchFamily="34" charset="-122"/>
                <a:cs typeface="Calibri" pitchFamily="34" charset="-120"/>
              </a:rPr>
              <a:t>Cause, cost, and schedule impact</a:t>
            </a:r>
            <a:endParaRPr lang="en-US" sz="1100" dirty="0"/>
          </a:p>
        </p:txBody>
      </p:sp>
      <p:sp>
        <p:nvSpPr>
          <p:cNvPr id="19" name="Shape 14"/>
          <p:cNvSpPr/>
          <p:nvPr/>
        </p:nvSpPr>
        <p:spPr>
          <a:xfrm>
            <a:off x="548640" y="3493008"/>
            <a:ext cx="3520440" cy="1234440"/>
          </a:xfrm>
          <a:prstGeom prst="roundRect">
            <a:avLst>
              <a:gd name="adj" fmla="val 7407"/>
            </a:avLst>
          </a:prstGeom>
          <a:solidFill>
            <a:srgbClr val="F4F6F8"/>
          </a:solidFill>
          <a:ln/>
        </p:spPr>
      </p:sp>
      <p:sp>
        <p:nvSpPr>
          <p:cNvPr id="20" name="Shape 15"/>
          <p:cNvSpPr/>
          <p:nvPr/>
        </p:nvSpPr>
        <p:spPr>
          <a:xfrm>
            <a:off x="731520" y="3817620"/>
            <a:ext cx="585216" cy="585216"/>
          </a:xfrm>
          <a:prstGeom prst="ellipse">
            <a:avLst/>
          </a:prstGeom>
          <a:solidFill>
            <a:srgbClr val="132A46"/>
          </a:solidFill>
          <a:ln/>
        </p:spPr>
      </p:sp>
      <p:pic>
        <p:nvPicPr>
          <p:cNvPr id="21" name="Image 3" descr="preencoded.png">    </p:cNvPr>
          <p:cNvPicPr>
            <a:picLocks noChangeAspect="1"/>
          </p:cNvPicPr>
          <p:nvPr/>
        </p:nvPicPr>
        <p:blipFill>
          <a:blip r:embed="rId4"/>
          <a:stretch>
            <a:fillRect/>
          </a:stretch>
        </p:blipFill>
        <p:spPr>
          <a:xfrm>
            <a:off x="863194" y="3949294"/>
            <a:ext cx="321869" cy="321869"/>
          </a:xfrm>
          <a:prstGeom prst="rect">
            <a:avLst/>
          </a:prstGeom>
        </p:spPr>
      </p:pic>
      <p:sp>
        <p:nvSpPr>
          <p:cNvPr id="22" name="Text 16"/>
          <p:cNvSpPr/>
          <p:nvPr/>
        </p:nvSpPr>
        <p:spPr>
          <a:xfrm>
            <a:off x="1463040" y="3639312"/>
            <a:ext cx="2468880" cy="384048"/>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Claims</a:t>
            </a:r>
            <a:endParaRPr lang="en-US" sz="1350" dirty="0"/>
          </a:p>
        </p:txBody>
      </p:sp>
      <p:sp>
        <p:nvSpPr>
          <p:cNvPr id="23" name="Text 17"/>
          <p:cNvSpPr/>
          <p:nvPr/>
        </p:nvSpPr>
        <p:spPr>
          <a:xfrm>
            <a:off x="1463040" y="4059936"/>
            <a:ext cx="2468880" cy="502920"/>
          </a:xfrm>
          <a:prstGeom prst="rect">
            <a:avLst/>
          </a:prstGeom>
          <a:noFill/>
          <a:ln/>
        </p:spPr>
        <p:txBody>
          <a:bodyPr wrap="square" lIns="0" tIns="0" rIns="0" bIns="0" rtlCol="0" anchor="ctr"/>
          <a:lstStyle/>
          <a:p>
            <a:pPr indent="0" marL="0">
              <a:lnSpc>
                <a:spcPct val="115000"/>
              </a:lnSpc>
              <a:buNone/>
            </a:pPr>
            <a:r>
              <a:rPr lang="en-US" sz="1100" dirty="0">
                <a:solidFill>
                  <a:srgbClr val="5B6B79"/>
                </a:solidFill>
                <a:latin typeface="Calibri" pitchFamily="34" charset="0"/>
                <a:ea typeface="Calibri" pitchFamily="34" charset="-122"/>
                <a:cs typeface="Calibri" pitchFamily="34" charset="-120"/>
              </a:rPr>
              <a:t>Evidence chains, import</a:t>
            </a:r>
            <a:endParaRPr lang="en-US" sz="1100" dirty="0"/>
          </a:p>
        </p:txBody>
      </p:sp>
      <p:sp>
        <p:nvSpPr>
          <p:cNvPr id="24" name="Shape 18"/>
          <p:cNvSpPr/>
          <p:nvPr/>
        </p:nvSpPr>
        <p:spPr>
          <a:xfrm>
            <a:off x="4297680" y="3493008"/>
            <a:ext cx="3520440" cy="1234440"/>
          </a:xfrm>
          <a:prstGeom prst="roundRect">
            <a:avLst>
              <a:gd name="adj" fmla="val 7407"/>
            </a:avLst>
          </a:prstGeom>
          <a:solidFill>
            <a:srgbClr val="F4F6F8"/>
          </a:solidFill>
          <a:ln/>
        </p:spPr>
      </p:sp>
      <p:sp>
        <p:nvSpPr>
          <p:cNvPr id="25" name="Shape 19"/>
          <p:cNvSpPr/>
          <p:nvPr/>
        </p:nvSpPr>
        <p:spPr>
          <a:xfrm>
            <a:off x="4480560" y="3817620"/>
            <a:ext cx="585216" cy="585216"/>
          </a:xfrm>
          <a:prstGeom prst="ellipse">
            <a:avLst/>
          </a:prstGeom>
          <a:solidFill>
            <a:srgbClr val="132A46"/>
          </a:solidFill>
          <a:ln/>
        </p:spPr>
      </p:sp>
      <p:pic>
        <p:nvPicPr>
          <p:cNvPr id="26" name="Image 4" descr="preencoded.png">    </p:cNvPr>
          <p:cNvPicPr>
            <a:picLocks noChangeAspect="1"/>
          </p:cNvPicPr>
          <p:nvPr/>
        </p:nvPicPr>
        <p:blipFill>
          <a:blip r:embed="rId5"/>
          <a:stretch>
            <a:fillRect/>
          </a:stretch>
        </p:blipFill>
        <p:spPr>
          <a:xfrm>
            <a:off x="4612234" y="3949294"/>
            <a:ext cx="321869" cy="321869"/>
          </a:xfrm>
          <a:prstGeom prst="rect">
            <a:avLst/>
          </a:prstGeom>
        </p:spPr>
      </p:pic>
      <p:sp>
        <p:nvSpPr>
          <p:cNvPr id="27" name="Text 20"/>
          <p:cNvSpPr/>
          <p:nvPr/>
        </p:nvSpPr>
        <p:spPr>
          <a:xfrm>
            <a:off x="5212080" y="3639312"/>
            <a:ext cx="2468880" cy="384048"/>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Meetings</a:t>
            </a:r>
            <a:endParaRPr lang="en-US" sz="1350" dirty="0"/>
          </a:p>
        </p:txBody>
      </p:sp>
      <p:sp>
        <p:nvSpPr>
          <p:cNvPr id="28" name="Text 21"/>
          <p:cNvSpPr/>
          <p:nvPr/>
        </p:nvSpPr>
        <p:spPr>
          <a:xfrm>
            <a:off x="5212080" y="4059936"/>
            <a:ext cx="2468880" cy="502920"/>
          </a:xfrm>
          <a:prstGeom prst="rect">
            <a:avLst/>
          </a:prstGeom>
          <a:noFill/>
          <a:ln/>
        </p:spPr>
        <p:txBody>
          <a:bodyPr wrap="square" lIns="0" tIns="0" rIns="0" bIns="0" rtlCol="0" anchor="ctr"/>
          <a:lstStyle/>
          <a:p>
            <a:pPr indent="0" marL="0">
              <a:lnSpc>
                <a:spcPct val="115000"/>
              </a:lnSpc>
              <a:buNone/>
            </a:pPr>
            <a:r>
              <a:rPr lang="en-US" sz="1100" dirty="0">
                <a:solidFill>
                  <a:srgbClr val="5B6B79"/>
                </a:solidFill>
                <a:latin typeface="Calibri" pitchFamily="34" charset="0"/>
                <a:ea typeface="Calibri" pitchFamily="34" charset="-122"/>
                <a:cs typeface="Calibri" pitchFamily="34" charset="-120"/>
              </a:rPr>
              <a:t>Minutes, actions, decisions</a:t>
            </a:r>
            <a:endParaRPr lang="en-US" sz="1100" dirty="0"/>
          </a:p>
        </p:txBody>
      </p:sp>
      <p:sp>
        <p:nvSpPr>
          <p:cNvPr id="29" name="Shape 22"/>
          <p:cNvSpPr/>
          <p:nvPr/>
        </p:nvSpPr>
        <p:spPr>
          <a:xfrm>
            <a:off x="8046720" y="3493008"/>
            <a:ext cx="3520440" cy="1234440"/>
          </a:xfrm>
          <a:prstGeom prst="roundRect">
            <a:avLst>
              <a:gd name="adj" fmla="val 7407"/>
            </a:avLst>
          </a:prstGeom>
          <a:solidFill>
            <a:srgbClr val="F4F6F8"/>
          </a:solidFill>
          <a:ln/>
        </p:spPr>
      </p:sp>
      <p:sp>
        <p:nvSpPr>
          <p:cNvPr id="30" name="Shape 23"/>
          <p:cNvSpPr/>
          <p:nvPr/>
        </p:nvSpPr>
        <p:spPr>
          <a:xfrm>
            <a:off x="8229600" y="3817620"/>
            <a:ext cx="585216" cy="585216"/>
          </a:xfrm>
          <a:prstGeom prst="ellipse">
            <a:avLst/>
          </a:prstGeom>
          <a:solidFill>
            <a:srgbClr val="132A46"/>
          </a:solidFill>
          <a:ln/>
        </p:spPr>
      </p:sp>
      <p:pic>
        <p:nvPicPr>
          <p:cNvPr id="31" name="Image 5" descr="preencoded.png">    </p:cNvPr>
          <p:cNvPicPr>
            <a:picLocks noChangeAspect="1"/>
          </p:cNvPicPr>
          <p:nvPr/>
        </p:nvPicPr>
        <p:blipFill>
          <a:blip r:embed="rId6"/>
          <a:stretch>
            <a:fillRect/>
          </a:stretch>
        </p:blipFill>
        <p:spPr>
          <a:xfrm>
            <a:off x="8361274" y="3949294"/>
            <a:ext cx="321869" cy="321869"/>
          </a:xfrm>
          <a:prstGeom prst="rect">
            <a:avLst/>
          </a:prstGeom>
        </p:spPr>
      </p:pic>
      <p:sp>
        <p:nvSpPr>
          <p:cNvPr id="32" name="Text 24"/>
          <p:cNvSpPr/>
          <p:nvPr/>
        </p:nvSpPr>
        <p:spPr>
          <a:xfrm>
            <a:off x="8961120" y="3639312"/>
            <a:ext cx="2468880" cy="384048"/>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Site Reports</a:t>
            </a:r>
            <a:endParaRPr lang="en-US" sz="1350" dirty="0"/>
          </a:p>
        </p:txBody>
      </p:sp>
      <p:sp>
        <p:nvSpPr>
          <p:cNvPr id="33" name="Text 25"/>
          <p:cNvSpPr/>
          <p:nvPr/>
        </p:nvSpPr>
        <p:spPr>
          <a:xfrm>
            <a:off x="8961120" y="4059936"/>
            <a:ext cx="2468880" cy="502920"/>
          </a:xfrm>
          <a:prstGeom prst="rect">
            <a:avLst/>
          </a:prstGeom>
          <a:noFill/>
          <a:ln/>
        </p:spPr>
        <p:txBody>
          <a:bodyPr wrap="square" lIns="0" tIns="0" rIns="0" bIns="0" rtlCol="0" anchor="ctr"/>
          <a:lstStyle/>
          <a:p>
            <a:pPr indent="0" marL="0">
              <a:lnSpc>
                <a:spcPct val="115000"/>
              </a:lnSpc>
              <a:buNone/>
            </a:pPr>
            <a:r>
              <a:rPr lang="en-US" sz="1100" dirty="0">
                <a:solidFill>
                  <a:srgbClr val="5B6B79"/>
                </a:solidFill>
                <a:latin typeface="Calibri" pitchFamily="34" charset="0"/>
                <a:ea typeface="Calibri" pitchFamily="34" charset="-122"/>
                <a:cs typeface="Calibri" pitchFamily="34" charset="-120"/>
              </a:rPr>
              <a:t>Field progress and delays</a:t>
            </a:r>
            <a:endParaRPr lang="en-US" sz="1100" dirty="0"/>
          </a:p>
        </p:txBody>
      </p:sp>
      <p:sp>
        <p:nvSpPr>
          <p:cNvPr id="34" name="Shape 26"/>
          <p:cNvSpPr/>
          <p:nvPr/>
        </p:nvSpPr>
        <p:spPr>
          <a:xfrm>
            <a:off x="548640" y="4928616"/>
            <a:ext cx="3520440" cy="1234440"/>
          </a:xfrm>
          <a:prstGeom prst="roundRect">
            <a:avLst>
              <a:gd name="adj" fmla="val 7407"/>
            </a:avLst>
          </a:prstGeom>
          <a:solidFill>
            <a:srgbClr val="F4F6F8"/>
          </a:solidFill>
          <a:ln/>
        </p:spPr>
      </p:sp>
      <p:sp>
        <p:nvSpPr>
          <p:cNvPr id="35" name="Shape 27"/>
          <p:cNvSpPr/>
          <p:nvPr/>
        </p:nvSpPr>
        <p:spPr>
          <a:xfrm>
            <a:off x="731520" y="5253228"/>
            <a:ext cx="585216" cy="585216"/>
          </a:xfrm>
          <a:prstGeom prst="ellipse">
            <a:avLst/>
          </a:prstGeom>
          <a:solidFill>
            <a:srgbClr val="132A46"/>
          </a:solidFill>
          <a:ln/>
        </p:spPr>
      </p:sp>
      <p:pic>
        <p:nvPicPr>
          <p:cNvPr id="36" name="Image 6" descr="preencoded.png">    </p:cNvPr>
          <p:cNvPicPr>
            <a:picLocks noChangeAspect="1"/>
          </p:cNvPicPr>
          <p:nvPr/>
        </p:nvPicPr>
        <p:blipFill>
          <a:blip r:embed="rId7"/>
          <a:stretch>
            <a:fillRect/>
          </a:stretch>
        </p:blipFill>
        <p:spPr>
          <a:xfrm>
            <a:off x="863194" y="5384902"/>
            <a:ext cx="321869" cy="321869"/>
          </a:xfrm>
          <a:prstGeom prst="rect">
            <a:avLst/>
          </a:prstGeom>
        </p:spPr>
      </p:pic>
      <p:sp>
        <p:nvSpPr>
          <p:cNvPr id="37" name="Text 28"/>
          <p:cNvSpPr/>
          <p:nvPr/>
        </p:nvSpPr>
        <p:spPr>
          <a:xfrm>
            <a:off x="1463040" y="5074920"/>
            <a:ext cx="2468880" cy="384048"/>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Documents</a:t>
            </a:r>
            <a:endParaRPr lang="en-US" sz="1350" dirty="0"/>
          </a:p>
        </p:txBody>
      </p:sp>
      <p:sp>
        <p:nvSpPr>
          <p:cNvPr id="38" name="Text 29"/>
          <p:cNvSpPr/>
          <p:nvPr/>
        </p:nvSpPr>
        <p:spPr>
          <a:xfrm>
            <a:off x="1463040" y="5495544"/>
            <a:ext cx="2468880" cy="502920"/>
          </a:xfrm>
          <a:prstGeom prst="rect">
            <a:avLst/>
          </a:prstGeom>
          <a:noFill/>
          <a:ln/>
        </p:spPr>
        <p:txBody>
          <a:bodyPr wrap="square" lIns="0" tIns="0" rIns="0" bIns="0" rtlCol="0" anchor="ctr"/>
          <a:lstStyle/>
          <a:p>
            <a:pPr indent="0" marL="0">
              <a:lnSpc>
                <a:spcPct val="115000"/>
              </a:lnSpc>
              <a:buNone/>
            </a:pPr>
            <a:r>
              <a:rPr lang="en-US" sz="1100" dirty="0">
                <a:solidFill>
                  <a:srgbClr val="5B6B79"/>
                </a:solidFill>
                <a:latin typeface="Calibri" pitchFamily="34" charset="0"/>
                <a:ea typeface="Calibri" pitchFamily="34" charset="-122"/>
                <a:cs typeface="Calibri" pitchFamily="34" charset="-120"/>
              </a:rPr>
              <a:t>Ingested, chunked, searchable</a:t>
            </a:r>
            <a:endParaRPr lang="en-US" sz="1100" dirty="0"/>
          </a:p>
        </p:txBody>
      </p:sp>
      <p:sp>
        <p:nvSpPr>
          <p:cNvPr id="39" name="Shape 30"/>
          <p:cNvSpPr/>
          <p:nvPr/>
        </p:nvSpPr>
        <p:spPr>
          <a:xfrm>
            <a:off x="4297680" y="4928616"/>
            <a:ext cx="3520440" cy="1234440"/>
          </a:xfrm>
          <a:prstGeom prst="roundRect">
            <a:avLst>
              <a:gd name="adj" fmla="val 7407"/>
            </a:avLst>
          </a:prstGeom>
          <a:solidFill>
            <a:srgbClr val="F4F6F8"/>
          </a:solidFill>
          <a:ln/>
        </p:spPr>
      </p:sp>
      <p:sp>
        <p:nvSpPr>
          <p:cNvPr id="40" name="Shape 31"/>
          <p:cNvSpPr/>
          <p:nvPr/>
        </p:nvSpPr>
        <p:spPr>
          <a:xfrm>
            <a:off x="4480560" y="5253228"/>
            <a:ext cx="585216" cy="585216"/>
          </a:xfrm>
          <a:prstGeom prst="ellipse">
            <a:avLst/>
          </a:prstGeom>
          <a:solidFill>
            <a:srgbClr val="132A46"/>
          </a:solidFill>
          <a:ln/>
        </p:spPr>
      </p:sp>
      <p:pic>
        <p:nvPicPr>
          <p:cNvPr id="41" name="Image 7" descr="preencoded.png">    </p:cNvPr>
          <p:cNvPicPr>
            <a:picLocks noChangeAspect="1"/>
          </p:cNvPicPr>
          <p:nvPr/>
        </p:nvPicPr>
        <p:blipFill>
          <a:blip r:embed="rId8"/>
          <a:stretch>
            <a:fillRect/>
          </a:stretch>
        </p:blipFill>
        <p:spPr>
          <a:xfrm>
            <a:off x="4612234" y="5384902"/>
            <a:ext cx="321869" cy="321869"/>
          </a:xfrm>
          <a:prstGeom prst="rect">
            <a:avLst/>
          </a:prstGeom>
        </p:spPr>
      </p:pic>
      <p:sp>
        <p:nvSpPr>
          <p:cNvPr id="42" name="Text 32"/>
          <p:cNvSpPr/>
          <p:nvPr/>
        </p:nvSpPr>
        <p:spPr>
          <a:xfrm>
            <a:off x="5212080" y="5074920"/>
            <a:ext cx="2468880" cy="384048"/>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Copilot</a:t>
            </a:r>
            <a:endParaRPr lang="en-US" sz="1350" dirty="0"/>
          </a:p>
        </p:txBody>
      </p:sp>
      <p:sp>
        <p:nvSpPr>
          <p:cNvPr id="43" name="Text 33"/>
          <p:cNvSpPr/>
          <p:nvPr/>
        </p:nvSpPr>
        <p:spPr>
          <a:xfrm>
            <a:off x="5212080" y="5495544"/>
            <a:ext cx="2468880" cy="502920"/>
          </a:xfrm>
          <a:prstGeom prst="rect">
            <a:avLst/>
          </a:prstGeom>
          <a:noFill/>
          <a:ln/>
        </p:spPr>
        <p:txBody>
          <a:bodyPr wrap="square" lIns="0" tIns="0" rIns="0" bIns="0" rtlCol="0" anchor="ctr"/>
          <a:lstStyle/>
          <a:p>
            <a:pPr indent="0" marL="0">
              <a:lnSpc>
                <a:spcPct val="115000"/>
              </a:lnSpc>
              <a:buNone/>
            </a:pPr>
            <a:r>
              <a:rPr lang="en-US" sz="1100" dirty="0">
                <a:solidFill>
                  <a:srgbClr val="5B6B79"/>
                </a:solidFill>
                <a:latin typeface="Calibri" pitchFamily="34" charset="0"/>
                <a:ea typeface="Calibri" pitchFamily="34" charset="-122"/>
                <a:cs typeface="Calibri" pitchFamily="34" charset="-120"/>
              </a:rPr>
              <a:t>Grounded Q&amp;A over the record</a:t>
            </a:r>
            <a:endParaRPr lang="en-US" sz="1100" dirty="0"/>
          </a:p>
        </p:txBody>
      </p:sp>
      <p:sp>
        <p:nvSpPr>
          <p:cNvPr id="44" name="Shape 34"/>
          <p:cNvSpPr/>
          <p:nvPr/>
        </p:nvSpPr>
        <p:spPr>
          <a:xfrm>
            <a:off x="8046720" y="4928616"/>
            <a:ext cx="3520440" cy="1234440"/>
          </a:xfrm>
          <a:prstGeom prst="roundRect">
            <a:avLst>
              <a:gd name="adj" fmla="val 7407"/>
            </a:avLst>
          </a:prstGeom>
          <a:solidFill>
            <a:srgbClr val="F4F6F8"/>
          </a:solidFill>
          <a:ln/>
        </p:spPr>
      </p:sp>
      <p:sp>
        <p:nvSpPr>
          <p:cNvPr id="45" name="Shape 35"/>
          <p:cNvSpPr/>
          <p:nvPr/>
        </p:nvSpPr>
        <p:spPr>
          <a:xfrm>
            <a:off x="8229600" y="5253228"/>
            <a:ext cx="585216" cy="585216"/>
          </a:xfrm>
          <a:prstGeom prst="ellipse">
            <a:avLst/>
          </a:prstGeom>
          <a:solidFill>
            <a:srgbClr val="132A46"/>
          </a:solidFill>
          <a:ln/>
        </p:spPr>
      </p:sp>
      <p:pic>
        <p:nvPicPr>
          <p:cNvPr id="46" name="Image 8" descr="preencoded.png">    </p:cNvPr>
          <p:cNvPicPr>
            <a:picLocks noChangeAspect="1"/>
          </p:cNvPicPr>
          <p:nvPr/>
        </p:nvPicPr>
        <p:blipFill>
          <a:blip r:embed="rId9"/>
          <a:stretch>
            <a:fillRect/>
          </a:stretch>
        </p:blipFill>
        <p:spPr>
          <a:xfrm>
            <a:off x="8361274" y="5384902"/>
            <a:ext cx="321869" cy="321869"/>
          </a:xfrm>
          <a:prstGeom prst="rect">
            <a:avLst/>
          </a:prstGeom>
        </p:spPr>
      </p:pic>
      <p:sp>
        <p:nvSpPr>
          <p:cNvPr id="47" name="Text 36"/>
          <p:cNvSpPr/>
          <p:nvPr/>
        </p:nvSpPr>
        <p:spPr>
          <a:xfrm>
            <a:off x="8961120" y="5074920"/>
            <a:ext cx="2468880" cy="384048"/>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Governance &amp; Audit</a:t>
            </a:r>
            <a:endParaRPr lang="en-US" sz="1350" dirty="0"/>
          </a:p>
        </p:txBody>
      </p:sp>
      <p:sp>
        <p:nvSpPr>
          <p:cNvPr id="48" name="Text 37"/>
          <p:cNvSpPr/>
          <p:nvPr/>
        </p:nvSpPr>
        <p:spPr>
          <a:xfrm>
            <a:off x="8961120" y="5495544"/>
            <a:ext cx="2468880" cy="502920"/>
          </a:xfrm>
          <a:prstGeom prst="rect">
            <a:avLst/>
          </a:prstGeom>
          <a:noFill/>
          <a:ln/>
        </p:spPr>
        <p:txBody>
          <a:bodyPr wrap="square" lIns="0" tIns="0" rIns="0" bIns="0" rtlCol="0" anchor="ctr"/>
          <a:lstStyle/>
          <a:p>
            <a:pPr indent="0" marL="0">
              <a:lnSpc>
                <a:spcPct val="115000"/>
              </a:lnSpc>
              <a:buNone/>
            </a:pPr>
            <a:r>
              <a:rPr lang="en-US" sz="1100" dirty="0">
                <a:solidFill>
                  <a:srgbClr val="5B6B79"/>
                </a:solidFill>
                <a:latin typeface="Calibri" pitchFamily="34" charset="0"/>
                <a:ea typeface="Calibri" pitchFamily="34" charset="-122"/>
                <a:cs typeface="Calibri" pitchFamily="34" charset="-120"/>
              </a:rPr>
              <a:t>Approvals and full audit log</a:t>
            </a:r>
            <a:endParaRPr lang="en-US" sz="1100" dirty="0"/>
          </a:p>
        </p:txBody>
      </p:sp>
      <p:sp>
        <p:nvSpPr>
          <p:cNvPr id="49" name="Text 3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50" name="Text 39"/>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Six AI workflows, each grounded in real computation</a:t>
            </a:r>
            <a:endParaRPr lang="en-US" sz="3000" dirty="0"/>
          </a:p>
        </p:txBody>
      </p:sp>
      <p:sp>
        <p:nvSpPr>
          <p:cNvPr id="3" name="Shape 1"/>
          <p:cNvSpPr/>
          <p:nvPr/>
        </p:nvSpPr>
        <p:spPr>
          <a:xfrm>
            <a:off x="548640" y="1508760"/>
            <a:ext cx="566928" cy="566928"/>
          </a:xfrm>
          <a:prstGeom prst="ellipse">
            <a:avLst/>
          </a:prstGeom>
          <a:solidFill>
            <a:srgbClr val="132A46"/>
          </a:solidFill>
          <a:ln/>
        </p:spPr>
      </p:sp>
      <p:pic>
        <p:nvPicPr>
          <p:cNvPr id="4" name="Image 0" descr="preencoded.png">    </p:cNvPr>
          <p:cNvPicPr>
            <a:picLocks noChangeAspect="1"/>
          </p:cNvPicPr>
          <p:nvPr/>
        </p:nvPicPr>
        <p:blipFill>
          <a:blip r:embed="rId1"/>
          <a:stretch>
            <a:fillRect/>
          </a:stretch>
        </p:blipFill>
        <p:spPr>
          <a:xfrm>
            <a:off x="676199" y="1636319"/>
            <a:ext cx="311810" cy="311810"/>
          </a:xfrm>
          <a:prstGeom prst="rect">
            <a:avLst/>
          </a:prstGeom>
        </p:spPr>
      </p:pic>
      <p:sp>
        <p:nvSpPr>
          <p:cNvPr id="5" name="Text 2"/>
          <p:cNvSpPr/>
          <p:nvPr/>
        </p:nvSpPr>
        <p:spPr>
          <a:xfrm>
            <a:off x="1325880" y="1463040"/>
            <a:ext cx="4617720" cy="365760"/>
          </a:xfrm>
          <a:prstGeom prst="rect">
            <a:avLst/>
          </a:prstGeom>
          <a:noFill/>
          <a:ln/>
        </p:spPr>
        <p:txBody>
          <a:bodyPr wrap="square" lIns="0" tIns="0" rIns="0" bIns="0" rtlCol="0" anchor="ctr"/>
          <a:lstStyle/>
          <a:p>
            <a:pPr indent="0" marL="0">
              <a:buNone/>
            </a:pPr>
            <a:r>
              <a:rPr lang="en-US" sz="1450" b="1" dirty="0">
                <a:solidFill>
                  <a:srgbClr val="132A46"/>
                </a:solidFill>
                <a:latin typeface="Calibri" pitchFamily="34" charset="0"/>
                <a:ea typeface="Calibri" pitchFamily="34" charset="-122"/>
                <a:cs typeface="Calibri" pitchFamily="34" charset="-120"/>
              </a:rPr>
              <a:t>Purchase Request Review</a:t>
            </a:r>
            <a:endParaRPr lang="en-US" sz="1450" dirty="0"/>
          </a:p>
        </p:txBody>
      </p:sp>
      <p:sp>
        <p:nvSpPr>
          <p:cNvPr id="6" name="Text 3"/>
          <p:cNvSpPr/>
          <p:nvPr/>
        </p:nvSpPr>
        <p:spPr>
          <a:xfrm>
            <a:off x="1325880" y="1847088"/>
            <a:ext cx="4617720" cy="822960"/>
          </a:xfrm>
          <a:prstGeom prst="rect">
            <a:avLst/>
          </a:prstGeom>
          <a:noFill/>
          <a:ln/>
        </p:spPr>
        <p:txBody>
          <a:bodyPr wrap="square" lIns="0" tIns="0" rIns="0" bIns="0" rtlCol="0" anchor="ctr"/>
          <a:lstStyle/>
          <a:p>
            <a:pPr indent="0" marL="0">
              <a:lnSpc>
                <a:spcPct val="125000"/>
              </a:lnSpc>
              <a:buNone/>
            </a:pPr>
            <a:r>
              <a:rPr lang="en-US" sz="1200" dirty="0">
                <a:solidFill>
                  <a:srgbClr val="5B6B79"/>
                </a:solidFill>
                <a:latin typeface="Calibri" pitchFamily="34" charset="0"/>
                <a:ea typeface="Calibri" pitchFamily="34" charset="-122"/>
                <a:cs typeface="Calibri" pitchFamily="34" charset="-120"/>
              </a:rPr>
              <a:t>Flags missing information and risk, weighted by the supplier's real delivery history.</a:t>
            </a:r>
            <a:endParaRPr lang="en-US" sz="1200" dirty="0"/>
          </a:p>
        </p:txBody>
      </p:sp>
      <p:sp>
        <p:nvSpPr>
          <p:cNvPr id="7" name="Shape 4"/>
          <p:cNvSpPr/>
          <p:nvPr/>
        </p:nvSpPr>
        <p:spPr>
          <a:xfrm>
            <a:off x="548640" y="2926080"/>
            <a:ext cx="566928" cy="566928"/>
          </a:xfrm>
          <a:prstGeom prst="ellipse">
            <a:avLst/>
          </a:prstGeom>
          <a:solidFill>
            <a:srgbClr val="132A46"/>
          </a:solidFill>
          <a:ln/>
        </p:spPr>
      </p:sp>
      <p:pic>
        <p:nvPicPr>
          <p:cNvPr id="8" name="Image 1" descr="preencoded.png">    </p:cNvPr>
          <p:cNvPicPr>
            <a:picLocks noChangeAspect="1"/>
          </p:cNvPicPr>
          <p:nvPr/>
        </p:nvPicPr>
        <p:blipFill>
          <a:blip r:embed="rId2"/>
          <a:stretch>
            <a:fillRect/>
          </a:stretch>
        </p:blipFill>
        <p:spPr>
          <a:xfrm>
            <a:off x="676199" y="3053639"/>
            <a:ext cx="311810" cy="311810"/>
          </a:xfrm>
          <a:prstGeom prst="rect">
            <a:avLst/>
          </a:prstGeom>
        </p:spPr>
      </p:pic>
      <p:sp>
        <p:nvSpPr>
          <p:cNvPr id="9" name="Text 5"/>
          <p:cNvSpPr/>
          <p:nvPr/>
        </p:nvSpPr>
        <p:spPr>
          <a:xfrm>
            <a:off x="1325880" y="2880360"/>
            <a:ext cx="4617720" cy="365760"/>
          </a:xfrm>
          <a:prstGeom prst="rect">
            <a:avLst/>
          </a:prstGeom>
          <a:noFill/>
          <a:ln/>
        </p:spPr>
        <p:txBody>
          <a:bodyPr wrap="square" lIns="0" tIns="0" rIns="0" bIns="0" rtlCol="0" anchor="ctr"/>
          <a:lstStyle/>
          <a:p>
            <a:pPr indent="0" marL="0">
              <a:buNone/>
            </a:pPr>
            <a:r>
              <a:rPr lang="en-US" sz="1450" b="1" dirty="0">
                <a:solidFill>
                  <a:srgbClr val="132A46"/>
                </a:solidFill>
                <a:latin typeface="Calibri" pitchFamily="34" charset="0"/>
                <a:ea typeface="Calibri" pitchFamily="34" charset="-122"/>
                <a:cs typeface="Calibri" pitchFamily="34" charset="-120"/>
              </a:rPr>
              <a:t>Supplier Risk Assessment</a:t>
            </a:r>
            <a:endParaRPr lang="en-US" sz="1450" dirty="0"/>
          </a:p>
        </p:txBody>
      </p:sp>
      <p:sp>
        <p:nvSpPr>
          <p:cNvPr id="10" name="Text 6"/>
          <p:cNvSpPr/>
          <p:nvPr/>
        </p:nvSpPr>
        <p:spPr>
          <a:xfrm>
            <a:off x="1325880" y="3264408"/>
            <a:ext cx="4617720" cy="822960"/>
          </a:xfrm>
          <a:prstGeom prst="rect">
            <a:avLst/>
          </a:prstGeom>
          <a:noFill/>
          <a:ln/>
        </p:spPr>
        <p:txBody>
          <a:bodyPr wrap="square" lIns="0" tIns="0" rIns="0" bIns="0" rtlCol="0" anchor="ctr"/>
          <a:lstStyle/>
          <a:p>
            <a:pPr indent="0" marL="0">
              <a:lnSpc>
                <a:spcPct val="125000"/>
              </a:lnSpc>
              <a:buNone/>
            </a:pPr>
            <a:r>
              <a:rPr lang="en-US" sz="1200" dirty="0">
                <a:solidFill>
                  <a:srgbClr val="5B6B79"/>
                </a:solidFill>
                <a:latin typeface="Calibri" pitchFamily="34" charset="0"/>
                <a:ea typeface="Calibri" pitchFamily="34" charset="-122"/>
                <a:cs typeface="Calibri" pitchFamily="34" charset="-120"/>
              </a:rPr>
              <a:t>Scores a supplier from on-time rate, non-conformances, and delay patterns.</a:t>
            </a:r>
            <a:endParaRPr lang="en-US" sz="1200" dirty="0"/>
          </a:p>
        </p:txBody>
      </p:sp>
      <p:sp>
        <p:nvSpPr>
          <p:cNvPr id="11" name="Shape 7"/>
          <p:cNvSpPr/>
          <p:nvPr/>
        </p:nvSpPr>
        <p:spPr>
          <a:xfrm>
            <a:off x="548640" y="4343400"/>
            <a:ext cx="566928" cy="566928"/>
          </a:xfrm>
          <a:prstGeom prst="ellipse">
            <a:avLst/>
          </a:prstGeom>
          <a:solidFill>
            <a:srgbClr val="132A46"/>
          </a:solidFill>
          <a:ln/>
        </p:spPr>
      </p:sp>
      <p:pic>
        <p:nvPicPr>
          <p:cNvPr id="12" name="Image 2" descr="preencoded.png">    </p:cNvPr>
          <p:cNvPicPr>
            <a:picLocks noChangeAspect="1"/>
          </p:cNvPicPr>
          <p:nvPr/>
        </p:nvPicPr>
        <p:blipFill>
          <a:blip r:embed="rId3"/>
          <a:stretch>
            <a:fillRect/>
          </a:stretch>
        </p:blipFill>
        <p:spPr>
          <a:xfrm>
            <a:off x="676199" y="4470959"/>
            <a:ext cx="311810" cy="311810"/>
          </a:xfrm>
          <a:prstGeom prst="rect">
            <a:avLst/>
          </a:prstGeom>
        </p:spPr>
      </p:pic>
      <p:sp>
        <p:nvSpPr>
          <p:cNvPr id="13" name="Text 8"/>
          <p:cNvSpPr/>
          <p:nvPr/>
        </p:nvSpPr>
        <p:spPr>
          <a:xfrm>
            <a:off x="1325880" y="4297680"/>
            <a:ext cx="4617720" cy="365760"/>
          </a:xfrm>
          <a:prstGeom prst="rect">
            <a:avLst/>
          </a:prstGeom>
          <a:noFill/>
          <a:ln/>
        </p:spPr>
        <p:txBody>
          <a:bodyPr wrap="square" lIns="0" tIns="0" rIns="0" bIns="0" rtlCol="0" anchor="ctr"/>
          <a:lstStyle/>
          <a:p>
            <a:pPr indent="0" marL="0">
              <a:buNone/>
            </a:pPr>
            <a:r>
              <a:rPr lang="en-US" sz="1450" b="1" dirty="0">
                <a:solidFill>
                  <a:srgbClr val="132A46"/>
                </a:solidFill>
                <a:latin typeface="Calibri" pitchFamily="34" charset="0"/>
                <a:ea typeface="Calibri" pitchFamily="34" charset="-122"/>
                <a:cs typeface="Calibri" pitchFamily="34" charset="-120"/>
              </a:rPr>
              <a:t>RFI Escalation</a:t>
            </a:r>
            <a:endParaRPr lang="en-US" sz="1450" dirty="0"/>
          </a:p>
        </p:txBody>
      </p:sp>
      <p:sp>
        <p:nvSpPr>
          <p:cNvPr id="14" name="Text 9"/>
          <p:cNvSpPr/>
          <p:nvPr/>
        </p:nvSpPr>
        <p:spPr>
          <a:xfrm>
            <a:off x="1325880" y="4681728"/>
            <a:ext cx="4617720" cy="822960"/>
          </a:xfrm>
          <a:prstGeom prst="rect">
            <a:avLst/>
          </a:prstGeom>
          <a:noFill/>
          <a:ln/>
        </p:spPr>
        <p:txBody>
          <a:bodyPr wrap="square" lIns="0" tIns="0" rIns="0" bIns="0" rtlCol="0" anchor="ctr"/>
          <a:lstStyle/>
          <a:p>
            <a:pPr indent="0" marL="0">
              <a:lnSpc>
                <a:spcPct val="125000"/>
              </a:lnSpc>
              <a:buNone/>
            </a:pPr>
            <a:r>
              <a:rPr lang="en-US" sz="1200" dirty="0">
                <a:solidFill>
                  <a:srgbClr val="5B6B79"/>
                </a:solidFill>
                <a:latin typeface="Calibri" pitchFamily="34" charset="0"/>
                <a:ea typeface="Calibri" pitchFamily="34" charset="-122"/>
                <a:cs typeface="Calibri" pitchFamily="34" charset="-120"/>
              </a:rPr>
              <a:t>Finds overdue RFIs and drafts a suggested action for each.</a:t>
            </a:r>
            <a:endParaRPr lang="en-US" sz="1200" dirty="0"/>
          </a:p>
        </p:txBody>
      </p:sp>
      <p:sp>
        <p:nvSpPr>
          <p:cNvPr id="15" name="Shape 10"/>
          <p:cNvSpPr/>
          <p:nvPr/>
        </p:nvSpPr>
        <p:spPr>
          <a:xfrm>
            <a:off x="6446520" y="1508760"/>
            <a:ext cx="566928" cy="566928"/>
          </a:xfrm>
          <a:prstGeom prst="ellipse">
            <a:avLst/>
          </a:prstGeom>
          <a:solidFill>
            <a:srgbClr val="E8622C"/>
          </a:solidFill>
          <a:ln/>
        </p:spPr>
      </p:sp>
      <p:pic>
        <p:nvPicPr>
          <p:cNvPr id="16" name="Image 3" descr="preencoded.png">    </p:cNvPr>
          <p:cNvPicPr>
            <a:picLocks noChangeAspect="1"/>
          </p:cNvPicPr>
          <p:nvPr/>
        </p:nvPicPr>
        <p:blipFill>
          <a:blip r:embed="rId4"/>
          <a:stretch>
            <a:fillRect/>
          </a:stretch>
        </p:blipFill>
        <p:spPr>
          <a:xfrm>
            <a:off x="6574079" y="1636319"/>
            <a:ext cx="311810" cy="311810"/>
          </a:xfrm>
          <a:prstGeom prst="rect">
            <a:avLst/>
          </a:prstGeom>
        </p:spPr>
      </p:pic>
      <p:sp>
        <p:nvSpPr>
          <p:cNvPr id="17" name="Text 11"/>
          <p:cNvSpPr/>
          <p:nvPr/>
        </p:nvSpPr>
        <p:spPr>
          <a:xfrm>
            <a:off x="7223760" y="1463040"/>
            <a:ext cx="4617720" cy="365760"/>
          </a:xfrm>
          <a:prstGeom prst="rect">
            <a:avLst/>
          </a:prstGeom>
          <a:noFill/>
          <a:ln/>
        </p:spPr>
        <p:txBody>
          <a:bodyPr wrap="square" lIns="0" tIns="0" rIns="0" bIns="0" rtlCol="0" anchor="ctr"/>
          <a:lstStyle/>
          <a:p>
            <a:pPr indent="0" marL="0">
              <a:buNone/>
            </a:pPr>
            <a:r>
              <a:rPr lang="en-US" sz="1450" b="1" dirty="0">
                <a:solidFill>
                  <a:srgbClr val="132A46"/>
                </a:solidFill>
                <a:latin typeface="Calibri" pitchFamily="34" charset="0"/>
                <a:ea typeface="Calibri" pitchFamily="34" charset="-122"/>
                <a:cs typeface="Calibri" pitchFamily="34" charset="-120"/>
              </a:rPr>
              <a:t>Meeting Summary</a:t>
            </a:r>
            <a:endParaRPr lang="en-US" sz="1450" dirty="0"/>
          </a:p>
        </p:txBody>
      </p:sp>
      <p:sp>
        <p:nvSpPr>
          <p:cNvPr id="18" name="Text 12"/>
          <p:cNvSpPr/>
          <p:nvPr/>
        </p:nvSpPr>
        <p:spPr>
          <a:xfrm>
            <a:off x="7223760" y="1847088"/>
            <a:ext cx="4617720" cy="822960"/>
          </a:xfrm>
          <a:prstGeom prst="rect">
            <a:avLst/>
          </a:prstGeom>
          <a:noFill/>
          <a:ln/>
        </p:spPr>
        <p:txBody>
          <a:bodyPr wrap="square" lIns="0" tIns="0" rIns="0" bIns="0" rtlCol="0" anchor="ctr"/>
          <a:lstStyle/>
          <a:p>
            <a:pPr indent="0" marL="0">
              <a:lnSpc>
                <a:spcPct val="125000"/>
              </a:lnSpc>
              <a:buNone/>
            </a:pPr>
            <a:r>
              <a:rPr lang="en-US" sz="1200" dirty="0">
                <a:solidFill>
                  <a:srgbClr val="5B6B79"/>
                </a:solidFill>
                <a:latin typeface="Calibri" pitchFamily="34" charset="0"/>
                <a:ea typeface="Calibri" pitchFamily="34" charset="-122"/>
                <a:cs typeface="Calibri" pitchFamily="34" charset="-120"/>
              </a:rPr>
              <a:t>Extracts action items, decisions, and risks from raw minutes.</a:t>
            </a:r>
            <a:endParaRPr lang="en-US" sz="1200" dirty="0"/>
          </a:p>
        </p:txBody>
      </p:sp>
      <p:sp>
        <p:nvSpPr>
          <p:cNvPr id="19" name="Shape 13"/>
          <p:cNvSpPr/>
          <p:nvPr/>
        </p:nvSpPr>
        <p:spPr>
          <a:xfrm>
            <a:off x="6446520" y="2926080"/>
            <a:ext cx="566928" cy="566928"/>
          </a:xfrm>
          <a:prstGeom prst="ellipse">
            <a:avLst/>
          </a:prstGeom>
          <a:solidFill>
            <a:srgbClr val="E8622C"/>
          </a:solidFill>
          <a:ln/>
        </p:spPr>
      </p:sp>
      <p:pic>
        <p:nvPicPr>
          <p:cNvPr id="20" name="Image 4" descr="preencoded.png">    </p:cNvPr>
          <p:cNvPicPr>
            <a:picLocks noChangeAspect="1"/>
          </p:cNvPicPr>
          <p:nvPr/>
        </p:nvPicPr>
        <p:blipFill>
          <a:blip r:embed="rId5"/>
          <a:stretch>
            <a:fillRect/>
          </a:stretch>
        </p:blipFill>
        <p:spPr>
          <a:xfrm>
            <a:off x="6574079" y="3053639"/>
            <a:ext cx="311810" cy="311810"/>
          </a:xfrm>
          <a:prstGeom prst="rect">
            <a:avLst/>
          </a:prstGeom>
        </p:spPr>
      </p:pic>
      <p:sp>
        <p:nvSpPr>
          <p:cNvPr id="21" name="Text 14"/>
          <p:cNvSpPr/>
          <p:nvPr/>
        </p:nvSpPr>
        <p:spPr>
          <a:xfrm>
            <a:off x="7223760" y="2880360"/>
            <a:ext cx="4617720" cy="365760"/>
          </a:xfrm>
          <a:prstGeom prst="rect">
            <a:avLst/>
          </a:prstGeom>
          <a:noFill/>
          <a:ln/>
        </p:spPr>
        <p:txBody>
          <a:bodyPr wrap="square" lIns="0" tIns="0" rIns="0" bIns="0" rtlCol="0" anchor="ctr"/>
          <a:lstStyle/>
          <a:p>
            <a:pPr indent="0" marL="0">
              <a:buNone/>
            </a:pPr>
            <a:r>
              <a:rPr lang="en-US" sz="1450" b="1" dirty="0">
                <a:solidFill>
                  <a:srgbClr val="132A46"/>
                </a:solidFill>
                <a:latin typeface="Calibri" pitchFamily="34" charset="0"/>
                <a:ea typeface="Calibri" pitchFamily="34" charset="-122"/>
                <a:cs typeface="Calibri" pitchFamily="34" charset="-120"/>
              </a:rPr>
              <a:t>Site Report Analysis</a:t>
            </a:r>
            <a:endParaRPr lang="en-US" sz="1450" dirty="0"/>
          </a:p>
        </p:txBody>
      </p:sp>
      <p:sp>
        <p:nvSpPr>
          <p:cNvPr id="22" name="Text 15"/>
          <p:cNvSpPr/>
          <p:nvPr/>
        </p:nvSpPr>
        <p:spPr>
          <a:xfrm>
            <a:off x="7223760" y="3264408"/>
            <a:ext cx="4617720" cy="822960"/>
          </a:xfrm>
          <a:prstGeom prst="rect">
            <a:avLst/>
          </a:prstGeom>
          <a:noFill/>
          <a:ln/>
        </p:spPr>
        <p:txBody>
          <a:bodyPr wrap="square" lIns="0" tIns="0" rIns="0" bIns="0" rtlCol="0" anchor="ctr"/>
          <a:lstStyle/>
          <a:p>
            <a:pPr indent="0" marL="0">
              <a:lnSpc>
                <a:spcPct val="125000"/>
              </a:lnSpc>
              <a:buNone/>
            </a:pPr>
            <a:r>
              <a:rPr lang="en-US" sz="1200" dirty="0">
                <a:solidFill>
                  <a:srgbClr val="5B6B79"/>
                </a:solidFill>
                <a:latin typeface="Calibri" pitchFamily="34" charset="0"/>
                <a:ea typeface="Calibri" pitchFamily="34" charset="-122"/>
                <a:cs typeface="Calibri" pitchFamily="34" charset="-120"/>
              </a:rPr>
              <a:t>Extracts delays, risks, and an escalation recommendation from a field report.</a:t>
            </a:r>
            <a:endParaRPr lang="en-US" sz="1200" dirty="0"/>
          </a:p>
        </p:txBody>
      </p:sp>
      <p:sp>
        <p:nvSpPr>
          <p:cNvPr id="23" name="Shape 16"/>
          <p:cNvSpPr/>
          <p:nvPr/>
        </p:nvSpPr>
        <p:spPr>
          <a:xfrm>
            <a:off x="6446520" y="4343400"/>
            <a:ext cx="566928" cy="566928"/>
          </a:xfrm>
          <a:prstGeom prst="ellipse">
            <a:avLst/>
          </a:prstGeom>
          <a:solidFill>
            <a:srgbClr val="E8622C"/>
          </a:solidFill>
          <a:ln/>
        </p:spPr>
      </p:sp>
      <p:pic>
        <p:nvPicPr>
          <p:cNvPr id="24" name="Image 5" descr="preencoded.png">    </p:cNvPr>
          <p:cNvPicPr>
            <a:picLocks noChangeAspect="1"/>
          </p:cNvPicPr>
          <p:nvPr/>
        </p:nvPicPr>
        <p:blipFill>
          <a:blip r:embed="rId6"/>
          <a:stretch>
            <a:fillRect/>
          </a:stretch>
        </p:blipFill>
        <p:spPr>
          <a:xfrm>
            <a:off x="6574079" y="4470959"/>
            <a:ext cx="311810" cy="311810"/>
          </a:xfrm>
          <a:prstGeom prst="rect">
            <a:avLst/>
          </a:prstGeom>
        </p:spPr>
      </p:pic>
      <p:sp>
        <p:nvSpPr>
          <p:cNvPr id="25" name="Text 17"/>
          <p:cNvSpPr/>
          <p:nvPr/>
        </p:nvSpPr>
        <p:spPr>
          <a:xfrm>
            <a:off x="7223760" y="4297680"/>
            <a:ext cx="4617720" cy="365760"/>
          </a:xfrm>
          <a:prstGeom prst="rect">
            <a:avLst/>
          </a:prstGeom>
          <a:noFill/>
          <a:ln/>
        </p:spPr>
        <p:txBody>
          <a:bodyPr wrap="square" lIns="0" tIns="0" rIns="0" bIns="0" rtlCol="0" anchor="ctr"/>
          <a:lstStyle/>
          <a:p>
            <a:pPr indent="0" marL="0">
              <a:buNone/>
            </a:pPr>
            <a:r>
              <a:rPr lang="en-US" sz="1450" b="1" dirty="0">
                <a:solidFill>
                  <a:srgbClr val="132A46"/>
                </a:solidFill>
                <a:latin typeface="Calibri" pitchFamily="34" charset="0"/>
                <a:ea typeface="Calibri" pitchFamily="34" charset="-122"/>
                <a:cs typeface="Calibri" pitchFamily="34" charset="-120"/>
              </a:rPr>
              <a:t>Executive Weekly Report</a:t>
            </a:r>
            <a:endParaRPr lang="en-US" sz="1450" dirty="0"/>
          </a:p>
        </p:txBody>
      </p:sp>
      <p:sp>
        <p:nvSpPr>
          <p:cNvPr id="26" name="Text 18"/>
          <p:cNvSpPr/>
          <p:nvPr/>
        </p:nvSpPr>
        <p:spPr>
          <a:xfrm>
            <a:off x="7223760" y="4681728"/>
            <a:ext cx="4617720" cy="822960"/>
          </a:xfrm>
          <a:prstGeom prst="rect">
            <a:avLst/>
          </a:prstGeom>
          <a:noFill/>
          <a:ln/>
        </p:spPr>
        <p:txBody>
          <a:bodyPr wrap="square" lIns="0" tIns="0" rIns="0" bIns="0" rtlCol="0" anchor="ctr"/>
          <a:lstStyle/>
          <a:p>
            <a:pPr indent="0" marL="0">
              <a:lnSpc>
                <a:spcPct val="125000"/>
              </a:lnSpc>
              <a:buNone/>
            </a:pPr>
            <a:r>
              <a:rPr lang="en-US" sz="1200" dirty="0">
                <a:solidFill>
                  <a:srgbClr val="5B6B79"/>
                </a:solidFill>
                <a:latin typeface="Calibri" pitchFamily="34" charset="0"/>
                <a:ea typeface="Calibri" pitchFamily="34" charset="-122"/>
                <a:cs typeface="Calibri" pitchFamily="34" charset="-120"/>
              </a:rPr>
              <a:t>Aggregates portfolio KPIs into a written executive narrative.</a:t>
            </a:r>
            <a:endParaRPr lang="en-US" sz="1200" dirty="0"/>
          </a:p>
        </p:txBody>
      </p:sp>
      <p:sp>
        <p:nvSpPr>
          <p:cNvPr id="27" name="Text 19"/>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28" name="Text 20"/>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Organizational memory that grows on its own</a:t>
            </a:r>
            <a:endParaRPr lang="en-US" sz="3000" dirty="0"/>
          </a:p>
        </p:txBody>
      </p:sp>
      <p:sp>
        <p:nvSpPr>
          <p:cNvPr id="3" name="Text 1"/>
          <p:cNvSpPr/>
          <p:nvPr/>
        </p:nvSpPr>
        <p:spPr>
          <a:xfrm>
            <a:off x="548640" y="1554480"/>
            <a:ext cx="5760720" cy="2468880"/>
          </a:xfrm>
          <a:prstGeom prst="rect">
            <a:avLst/>
          </a:prstGeom>
          <a:noFill/>
          <a:ln/>
        </p:spPr>
        <p:txBody>
          <a:bodyPr wrap="square" lIns="0" tIns="0" rIns="0" bIns="0" rtlCol="0" anchor="ctr"/>
          <a:lstStyle/>
          <a:p>
            <a:pPr indent="0" marL="0">
              <a:lnSpc>
                <a:spcPct val="135000"/>
              </a:lnSpc>
              <a:buNone/>
            </a:pPr>
            <a:r>
              <a:rPr lang="en-US" sz="1500" dirty="0">
                <a:solidFill>
                  <a:srgbClr val="5B6B79"/>
                </a:solidFill>
                <a:latin typeface="Calibri" pitchFamily="34" charset="0"/>
                <a:ea typeface="Calibri" pitchFamily="34" charset="-122"/>
                <a:cs typeface="Calibri" pitchFamily="34" charset="-120"/>
              </a:rPr>
              <a:t>Every workflow reads from and writes to a searchable memory of decisions, risks, lessons learned, and supplier performance — each record carrying the source it came from. A memory-extraction agent turns free text into categorized, confidence-scored memories without anyone filing a report.</a:t>
            </a:r>
            <a:endParaRPr lang="en-US" sz="1500" dirty="0"/>
          </a:p>
        </p:txBody>
      </p:sp>
      <p:sp>
        <p:nvSpPr>
          <p:cNvPr id="4" name="Text 2"/>
          <p:cNvSpPr/>
          <p:nvPr/>
        </p:nvSpPr>
        <p:spPr>
          <a:xfrm>
            <a:off x="548640" y="4297680"/>
            <a:ext cx="5760720" cy="548640"/>
          </a:xfrm>
          <a:prstGeom prst="rect">
            <a:avLst/>
          </a:prstGeom>
          <a:noFill/>
          <a:ln/>
        </p:spPr>
        <p:txBody>
          <a:bodyPr wrap="square" lIns="0" tIns="0" rIns="0" bIns="0" rtlCol="0" anchor="ctr"/>
          <a:lstStyle/>
          <a:p>
            <a:pPr indent="0" marL="0">
              <a:buNone/>
            </a:pPr>
            <a:r>
              <a:rPr lang="en-US" sz="1600" b="1" i="1" dirty="0">
                <a:solidFill>
                  <a:srgbClr val="E8622C"/>
                </a:solidFill>
                <a:latin typeface="Calibri" pitchFamily="34" charset="0"/>
                <a:ea typeface="Calibri" pitchFamily="34" charset="-122"/>
                <a:cs typeface="Calibri" pitchFamily="34" charset="-120"/>
              </a:rPr>
              <a:t>A review is informed by every past finding — and adds to it.</a:t>
            </a:r>
            <a:endParaRPr lang="en-US" sz="1600" dirty="0"/>
          </a:p>
        </p:txBody>
      </p:sp>
      <p:sp>
        <p:nvSpPr>
          <p:cNvPr id="5" name="Shape 3"/>
          <p:cNvSpPr/>
          <p:nvPr/>
        </p:nvSpPr>
        <p:spPr>
          <a:xfrm>
            <a:off x="7589520" y="1600200"/>
            <a:ext cx="566928" cy="566928"/>
          </a:xfrm>
          <a:prstGeom prst="ellipse">
            <a:avLst/>
          </a:prstGeom>
          <a:solidFill>
            <a:srgbClr val="132A46"/>
          </a:solidFill>
          <a:ln/>
        </p:spPr>
      </p:sp>
      <p:pic>
        <p:nvPicPr>
          <p:cNvPr id="6" name="Image 0" descr="preencoded.png">    </p:cNvPr>
          <p:cNvPicPr>
            <a:picLocks noChangeAspect="1"/>
          </p:cNvPicPr>
          <p:nvPr/>
        </p:nvPicPr>
        <p:blipFill>
          <a:blip r:embed="rId1"/>
          <a:stretch>
            <a:fillRect/>
          </a:stretch>
        </p:blipFill>
        <p:spPr>
          <a:xfrm>
            <a:off x="7717079" y="1727759"/>
            <a:ext cx="311810" cy="311810"/>
          </a:xfrm>
          <a:prstGeom prst="rect">
            <a:avLst/>
          </a:prstGeom>
        </p:spPr>
      </p:pic>
      <p:sp>
        <p:nvSpPr>
          <p:cNvPr id="7" name="Text 4"/>
          <p:cNvSpPr/>
          <p:nvPr/>
        </p:nvSpPr>
        <p:spPr>
          <a:xfrm>
            <a:off x="8339328" y="1554480"/>
            <a:ext cx="3840480" cy="685800"/>
          </a:xfrm>
          <a:prstGeom prst="rect">
            <a:avLst/>
          </a:prstGeom>
          <a:noFill/>
          <a:ln/>
        </p:spPr>
        <p:txBody>
          <a:bodyPr wrap="square" lIns="0" tIns="0" rIns="0" bIns="0" rtlCol="0" anchor="ctr"/>
          <a:lstStyle/>
          <a:p>
            <a:pPr indent="0" marL="0">
              <a:lnSpc>
                <a:spcPct val="115000"/>
              </a:lnSpc>
              <a:buNone/>
            </a:pPr>
            <a:r>
              <a:rPr lang="en-US" sz="1200" b="1" dirty="0">
                <a:solidFill>
                  <a:srgbClr val="132A46"/>
                </a:solidFill>
                <a:latin typeface="Calibri" pitchFamily="34" charset="0"/>
                <a:ea typeface="Calibri" pitchFamily="34" charset="-122"/>
                <a:cs typeface="Calibri" pitchFamily="34" charset="-120"/>
              </a:rPr>
              <a:t>Raw text</a:t>
            </a:r>
            <a:endParaRPr lang="en-US" sz="1200" dirty="0"/>
          </a:p>
          <a:p>
            <a:pPr indent="0" marL="0">
              <a:lnSpc>
                <a:spcPct val="115000"/>
              </a:lnSpc>
              <a:buNone/>
            </a:pPr>
            <a:r>
              <a:rPr lang="en-US" sz="1200" b="1" dirty="0">
                <a:solidFill>
                  <a:srgbClr val="132A46"/>
                </a:solidFill>
                <a:latin typeface="Calibri" pitchFamily="34" charset="0"/>
                <a:ea typeface="Calibri" pitchFamily="34" charset="-122"/>
                <a:cs typeface="Calibri" pitchFamily="34" charset="-120"/>
              </a:rPr>
              <a:t>(minutes, reports, documents)</a:t>
            </a:r>
            <a:endParaRPr lang="en-US" sz="1200" dirty="0"/>
          </a:p>
        </p:txBody>
      </p:sp>
      <p:sp>
        <p:nvSpPr>
          <p:cNvPr id="8" name="Shape 5"/>
          <p:cNvSpPr/>
          <p:nvPr/>
        </p:nvSpPr>
        <p:spPr>
          <a:xfrm>
            <a:off x="7872984" y="2167128"/>
            <a:ext cx="0" cy="484632"/>
          </a:xfrm>
          <a:prstGeom prst="line">
            <a:avLst/>
          </a:prstGeom>
          <a:noFill/>
          <a:ln w="15875">
            <a:solidFill>
              <a:srgbClr val="8A97A3"/>
            </a:solidFill>
            <a:prstDash val="dash"/>
          </a:ln>
        </p:spPr>
      </p:sp>
      <p:sp>
        <p:nvSpPr>
          <p:cNvPr id="9" name="Shape 6"/>
          <p:cNvSpPr/>
          <p:nvPr/>
        </p:nvSpPr>
        <p:spPr>
          <a:xfrm>
            <a:off x="7589520" y="2651760"/>
            <a:ext cx="566928" cy="566928"/>
          </a:xfrm>
          <a:prstGeom prst="ellipse">
            <a:avLst/>
          </a:prstGeom>
          <a:solidFill>
            <a:srgbClr val="132A46"/>
          </a:solidFill>
          <a:ln/>
        </p:spPr>
      </p:sp>
      <p:pic>
        <p:nvPicPr>
          <p:cNvPr id="10" name="Image 1" descr="preencoded.png">    </p:cNvPr>
          <p:cNvPicPr>
            <a:picLocks noChangeAspect="1"/>
          </p:cNvPicPr>
          <p:nvPr/>
        </p:nvPicPr>
        <p:blipFill>
          <a:blip r:embed="rId2"/>
          <a:stretch>
            <a:fillRect/>
          </a:stretch>
        </p:blipFill>
        <p:spPr>
          <a:xfrm>
            <a:off x="7717079" y="2779319"/>
            <a:ext cx="311810" cy="311810"/>
          </a:xfrm>
          <a:prstGeom prst="rect">
            <a:avLst/>
          </a:prstGeom>
        </p:spPr>
      </p:pic>
      <p:sp>
        <p:nvSpPr>
          <p:cNvPr id="11" name="Text 7"/>
          <p:cNvSpPr/>
          <p:nvPr/>
        </p:nvSpPr>
        <p:spPr>
          <a:xfrm>
            <a:off x="8339328" y="2606040"/>
            <a:ext cx="3840480" cy="685800"/>
          </a:xfrm>
          <a:prstGeom prst="rect">
            <a:avLst/>
          </a:prstGeom>
          <a:noFill/>
          <a:ln/>
        </p:spPr>
        <p:txBody>
          <a:bodyPr wrap="square" lIns="0" tIns="0" rIns="0" bIns="0" rtlCol="0" anchor="ctr"/>
          <a:lstStyle/>
          <a:p>
            <a:pPr indent="0" marL="0">
              <a:lnSpc>
                <a:spcPct val="115000"/>
              </a:lnSpc>
              <a:buNone/>
            </a:pPr>
            <a:r>
              <a:rPr lang="en-US" sz="1200" b="1" dirty="0">
                <a:solidFill>
                  <a:srgbClr val="132A46"/>
                </a:solidFill>
                <a:latin typeface="Calibri" pitchFamily="34" charset="0"/>
                <a:ea typeface="Calibri" pitchFamily="34" charset="-122"/>
                <a:cs typeface="Calibri" pitchFamily="34" charset="-120"/>
              </a:rPr>
              <a:t>Memory-extraction agent</a:t>
            </a:r>
            <a:endParaRPr lang="en-US" sz="1200" dirty="0"/>
          </a:p>
        </p:txBody>
      </p:sp>
      <p:sp>
        <p:nvSpPr>
          <p:cNvPr id="12" name="Shape 8"/>
          <p:cNvSpPr/>
          <p:nvPr/>
        </p:nvSpPr>
        <p:spPr>
          <a:xfrm>
            <a:off x="7872984" y="3218688"/>
            <a:ext cx="0" cy="484632"/>
          </a:xfrm>
          <a:prstGeom prst="line">
            <a:avLst/>
          </a:prstGeom>
          <a:noFill/>
          <a:ln w="15875">
            <a:solidFill>
              <a:srgbClr val="8A97A3"/>
            </a:solidFill>
            <a:prstDash val="dash"/>
          </a:ln>
        </p:spPr>
      </p:sp>
      <p:sp>
        <p:nvSpPr>
          <p:cNvPr id="13" name="Shape 9"/>
          <p:cNvSpPr/>
          <p:nvPr/>
        </p:nvSpPr>
        <p:spPr>
          <a:xfrm>
            <a:off x="7589520" y="3703320"/>
            <a:ext cx="566928" cy="566928"/>
          </a:xfrm>
          <a:prstGeom prst="ellipse">
            <a:avLst/>
          </a:prstGeom>
          <a:solidFill>
            <a:srgbClr val="132A46"/>
          </a:solidFill>
          <a:ln/>
        </p:spPr>
      </p:sp>
      <p:pic>
        <p:nvPicPr>
          <p:cNvPr id="14" name="Image 2" descr="preencoded.png">    </p:cNvPr>
          <p:cNvPicPr>
            <a:picLocks noChangeAspect="1"/>
          </p:cNvPicPr>
          <p:nvPr/>
        </p:nvPicPr>
        <p:blipFill>
          <a:blip r:embed="rId3"/>
          <a:stretch>
            <a:fillRect/>
          </a:stretch>
        </p:blipFill>
        <p:spPr>
          <a:xfrm>
            <a:off x="7717079" y="3830879"/>
            <a:ext cx="311810" cy="311810"/>
          </a:xfrm>
          <a:prstGeom prst="rect">
            <a:avLst/>
          </a:prstGeom>
        </p:spPr>
      </p:pic>
      <p:sp>
        <p:nvSpPr>
          <p:cNvPr id="15" name="Text 10"/>
          <p:cNvSpPr/>
          <p:nvPr/>
        </p:nvSpPr>
        <p:spPr>
          <a:xfrm>
            <a:off x="8339328" y="3657600"/>
            <a:ext cx="3840480" cy="685800"/>
          </a:xfrm>
          <a:prstGeom prst="rect">
            <a:avLst/>
          </a:prstGeom>
          <a:noFill/>
          <a:ln/>
        </p:spPr>
        <p:txBody>
          <a:bodyPr wrap="square" lIns="0" tIns="0" rIns="0" bIns="0" rtlCol="0" anchor="ctr"/>
          <a:lstStyle/>
          <a:p>
            <a:pPr indent="0" marL="0">
              <a:lnSpc>
                <a:spcPct val="115000"/>
              </a:lnSpc>
              <a:buNone/>
            </a:pPr>
            <a:r>
              <a:rPr lang="en-US" sz="1200" b="1" dirty="0">
                <a:solidFill>
                  <a:srgbClr val="132A46"/>
                </a:solidFill>
                <a:latin typeface="Calibri" pitchFamily="34" charset="0"/>
                <a:ea typeface="Calibri" pitchFamily="34" charset="-122"/>
                <a:cs typeface="Calibri" pitchFamily="34" charset="-120"/>
              </a:rPr>
              <a:t>Categorized, confidence-scored memory</a:t>
            </a:r>
            <a:endParaRPr lang="en-US" sz="1200" dirty="0"/>
          </a:p>
        </p:txBody>
      </p:sp>
      <p:sp>
        <p:nvSpPr>
          <p:cNvPr id="16" name="Shape 11"/>
          <p:cNvSpPr/>
          <p:nvPr/>
        </p:nvSpPr>
        <p:spPr>
          <a:xfrm>
            <a:off x="7872984" y="4270248"/>
            <a:ext cx="0" cy="484632"/>
          </a:xfrm>
          <a:prstGeom prst="line">
            <a:avLst/>
          </a:prstGeom>
          <a:noFill/>
          <a:ln w="15875">
            <a:solidFill>
              <a:srgbClr val="8A97A3"/>
            </a:solidFill>
            <a:prstDash val="dash"/>
          </a:ln>
        </p:spPr>
      </p:sp>
      <p:sp>
        <p:nvSpPr>
          <p:cNvPr id="17" name="Shape 12"/>
          <p:cNvSpPr/>
          <p:nvPr/>
        </p:nvSpPr>
        <p:spPr>
          <a:xfrm>
            <a:off x="7589520" y="4754880"/>
            <a:ext cx="566928" cy="566928"/>
          </a:xfrm>
          <a:prstGeom prst="ellipse">
            <a:avLst/>
          </a:prstGeom>
          <a:solidFill>
            <a:srgbClr val="132A46"/>
          </a:solidFill>
          <a:ln/>
        </p:spPr>
      </p:sp>
      <p:pic>
        <p:nvPicPr>
          <p:cNvPr id="18" name="Image 3" descr="preencoded.png">    </p:cNvPr>
          <p:cNvPicPr>
            <a:picLocks noChangeAspect="1"/>
          </p:cNvPicPr>
          <p:nvPr/>
        </p:nvPicPr>
        <p:blipFill>
          <a:blip r:embed="rId4"/>
          <a:stretch>
            <a:fillRect/>
          </a:stretch>
        </p:blipFill>
        <p:spPr>
          <a:xfrm>
            <a:off x="7717079" y="4882439"/>
            <a:ext cx="311810" cy="311810"/>
          </a:xfrm>
          <a:prstGeom prst="rect">
            <a:avLst/>
          </a:prstGeom>
        </p:spPr>
      </p:pic>
      <p:sp>
        <p:nvSpPr>
          <p:cNvPr id="19" name="Text 13"/>
          <p:cNvSpPr/>
          <p:nvPr/>
        </p:nvSpPr>
        <p:spPr>
          <a:xfrm>
            <a:off x="8339328" y="4709160"/>
            <a:ext cx="3840480" cy="685800"/>
          </a:xfrm>
          <a:prstGeom prst="rect">
            <a:avLst/>
          </a:prstGeom>
          <a:noFill/>
          <a:ln/>
        </p:spPr>
        <p:txBody>
          <a:bodyPr wrap="square" lIns="0" tIns="0" rIns="0" bIns="0" rtlCol="0" anchor="ctr"/>
          <a:lstStyle/>
          <a:p>
            <a:pPr indent="0" marL="0">
              <a:lnSpc>
                <a:spcPct val="115000"/>
              </a:lnSpc>
              <a:buNone/>
            </a:pPr>
            <a:r>
              <a:rPr lang="en-US" sz="1200" b="1" dirty="0">
                <a:solidFill>
                  <a:srgbClr val="132A46"/>
                </a:solidFill>
                <a:latin typeface="Calibri" pitchFamily="34" charset="0"/>
                <a:ea typeface="Calibri" pitchFamily="34" charset="-122"/>
                <a:cs typeface="Calibri" pitchFamily="34" charset="-120"/>
              </a:rPr>
              <a:t>Read by every future workflow</a:t>
            </a:r>
            <a:endParaRPr lang="en-US" sz="1200" dirty="0"/>
          </a:p>
        </p:txBody>
      </p:sp>
      <p:sp>
        <p:nvSpPr>
          <p:cNvPr id="20" name="Text 14"/>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21" name="Text 1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A copilot that refuses to guess</a:t>
            </a:r>
            <a:endParaRPr lang="en-US" sz="3000" dirty="0"/>
          </a:p>
        </p:txBody>
      </p:sp>
      <p:sp>
        <p:nvSpPr>
          <p:cNvPr id="3" name="Text 1"/>
          <p:cNvSpPr/>
          <p:nvPr/>
        </p:nvSpPr>
        <p:spPr>
          <a:xfrm>
            <a:off x="548640" y="1417320"/>
            <a:ext cx="4206240" cy="1737360"/>
          </a:xfrm>
          <a:prstGeom prst="rect">
            <a:avLst/>
          </a:prstGeom>
          <a:noFill/>
          <a:ln/>
        </p:spPr>
        <p:txBody>
          <a:bodyPr wrap="square" lIns="0" tIns="0" rIns="0" bIns="0" rtlCol="0" anchor="ctr"/>
          <a:lstStyle/>
          <a:p>
            <a:pPr indent="0" marL="0">
              <a:lnSpc>
                <a:spcPct val="135000"/>
              </a:lnSpc>
              <a:buNone/>
            </a:pPr>
            <a:r>
              <a:rPr lang="en-US" sz="1450" dirty="0">
                <a:solidFill>
                  <a:srgbClr val="5B6B79"/>
                </a:solidFill>
                <a:latin typeface="Calibri" pitchFamily="34" charset="0"/>
                <a:ea typeface="Calibri" pitchFamily="34" charset="-122"/>
                <a:cs typeface="Calibri" pitchFamily="34" charset="-120"/>
              </a:rPr>
              <a:t>Ask about a named project and retrieval is scoped to it, so one project's records are never presented as another's. Every answer cites its sources, and when there is no evidence, it says so instead of inventing one.</a:t>
            </a:r>
            <a:endParaRPr lang="en-US" sz="1450" dirty="0"/>
          </a:p>
        </p:txBody>
      </p:sp>
      <p:sp>
        <p:nvSpPr>
          <p:cNvPr id="4" name="Text 2"/>
          <p:cNvSpPr/>
          <p:nvPr/>
        </p:nvSpPr>
        <p:spPr>
          <a:xfrm>
            <a:off x="548640" y="3383280"/>
            <a:ext cx="1005840" cy="777240"/>
          </a:xfrm>
          <a:prstGeom prst="rect">
            <a:avLst/>
          </a:prstGeom>
          <a:noFill/>
          <a:ln/>
        </p:spPr>
        <p:txBody>
          <a:bodyPr wrap="square" lIns="0" tIns="0" rIns="0" bIns="0" rtlCol="0" anchor="ctr"/>
          <a:lstStyle/>
          <a:p>
            <a:pPr indent="0" marL="0">
              <a:buNone/>
            </a:pPr>
            <a:r>
              <a:rPr lang="en-US" sz="4000" b="1" dirty="0">
                <a:solidFill>
                  <a:srgbClr val="E8622C"/>
                </a:solidFill>
                <a:latin typeface="Calibri" pitchFamily="34" charset="0"/>
                <a:ea typeface="Calibri" pitchFamily="34" charset="-122"/>
                <a:cs typeface="Calibri" pitchFamily="34" charset="-120"/>
              </a:rPr>
              <a:t>0</a:t>
            </a:r>
            <a:endParaRPr lang="en-US" sz="4000" dirty="0"/>
          </a:p>
        </p:txBody>
      </p:sp>
      <p:sp>
        <p:nvSpPr>
          <p:cNvPr id="5" name="Text 3"/>
          <p:cNvSpPr/>
          <p:nvPr/>
        </p:nvSpPr>
        <p:spPr>
          <a:xfrm>
            <a:off x="1600200" y="3493008"/>
            <a:ext cx="3017520" cy="685800"/>
          </a:xfrm>
          <a:prstGeom prst="rect">
            <a:avLst/>
          </a:prstGeom>
          <a:noFill/>
          <a:ln/>
        </p:spPr>
        <p:txBody>
          <a:bodyPr wrap="square" lIns="0" tIns="0" rIns="0" bIns="0" rtlCol="0" anchor="ctr"/>
          <a:lstStyle/>
          <a:p>
            <a:pPr indent="0" marL="0">
              <a:lnSpc>
                <a:spcPct val="120000"/>
              </a:lnSpc>
              <a:buNone/>
            </a:pPr>
            <a:r>
              <a:rPr lang="en-US" sz="1300" dirty="0">
                <a:solidFill>
                  <a:srgbClr val="132A46"/>
                </a:solidFill>
                <a:latin typeface="Calibri" pitchFamily="34" charset="0"/>
                <a:ea typeface="Calibri" pitchFamily="34" charset="-122"/>
                <a:cs typeface="Calibri" pitchFamily="34" charset="-120"/>
              </a:rPr>
              <a:t>answers without a cited source</a:t>
            </a:r>
            <a:endParaRPr lang="en-US" sz="1300" dirty="0"/>
          </a:p>
        </p:txBody>
      </p:sp>
      <p:sp>
        <p:nvSpPr>
          <p:cNvPr id="6" name="Text 4"/>
          <p:cNvSpPr/>
          <p:nvPr/>
        </p:nvSpPr>
        <p:spPr>
          <a:xfrm>
            <a:off x="548640" y="4434840"/>
            <a:ext cx="1005840" cy="777240"/>
          </a:xfrm>
          <a:prstGeom prst="rect">
            <a:avLst/>
          </a:prstGeom>
          <a:noFill/>
          <a:ln/>
        </p:spPr>
        <p:txBody>
          <a:bodyPr wrap="square" lIns="0" tIns="0" rIns="0" bIns="0" rtlCol="0" anchor="ctr"/>
          <a:lstStyle/>
          <a:p>
            <a:pPr indent="0" marL="0">
              <a:buNone/>
            </a:pPr>
            <a:r>
              <a:rPr lang="en-US" sz="4000" b="1" dirty="0">
                <a:solidFill>
                  <a:srgbClr val="E8622C"/>
                </a:solidFill>
                <a:latin typeface="Calibri" pitchFamily="34" charset="0"/>
                <a:ea typeface="Calibri" pitchFamily="34" charset="-122"/>
                <a:cs typeface="Calibri" pitchFamily="34" charset="-120"/>
              </a:rPr>
              <a:t>2</a:t>
            </a:r>
            <a:endParaRPr lang="en-US" sz="4000" dirty="0"/>
          </a:p>
        </p:txBody>
      </p:sp>
      <p:sp>
        <p:nvSpPr>
          <p:cNvPr id="7" name="Text 5"/>
          <p:cNvSpPr/>
          <p:nvPr/>
        </p:nvSpPr>
        <p:spPr>
          <a:xfrm>
            <a:off x="1600200" y="4544568"/>
            <a:ext cx="3017520" cy="685800"/>
          </a:xfrm>
          <a:prstGeom prst="rect">
            <a:avLst/>
          </a:prstGeom>
          <a:noFill/>
          <a:ln/>
        </p:spPr>
        <p:txBody>
          <a:bodyPr wrap="square" lIns="0" tIns="0" rIns="0" bIns="0" rtlCol="0" anchor="ctr"/>
          <a:lstStyle/>
          <a:p>
            <a:pPr indent="0" marL="0">
              <a:lnSpc>
                <a:spcPct val="120000"/>
              </a:lnSpc>
              <a:buNone/>
            </a:pPr>
            <a:r>
              <a:rPr lang="en-US" sz="1300" dirty="0">
                <a:solidFill>
                  <a:srgbClr val="132A46"/>
                </a:solidFill>
                <a:latin typeface="Calibri" pitchFamily="34" charset="0"/>
                <a:ea typeface="Calibri" pitchFamily="34" charset="-122"/>
                <a:cs typeface="Calibri" pitchFamily="34" charset="-120"/>
              </a:rPr>
              <a:t>languages — replies in the language asked</a:t>
            </a:r>
            <a:endParaRPr lang="en-US" sz="1300" dirty="0"/>
          </a:p>
        </p:txBody>
      </p:sp>
      <p:sp>
        <p:nvSpPr>
          <p:cNvPr id="8" name="Shape 6"/>
          <p:cNvSpPr/>
          <p:nvPr/>
        </p:nvSpPr>
        <p:spPr>
          <a:xfrm>
            <a:off x="5074920" y="2133307"/>
            <a:ext cx="6611112" cy="3460065"/>
          </a:xfrm>
          <a:prstGeom prst="roundRect">
            <a:avLst>
              <a:gd name="adj" fmla="val 2114"/>
            </a:avLst>
          </a:prstGeom>
          <a:solidFill>
            <a:srgbClr val="FFFFFF"/>
          </a:solidFill>
          <a:ln w="12700">
            <a:solidFill>
              <a:srgbClr val="E2E6EA"/>
            </a:solidFill>
            <a:prstDash val="solid"/>
          </a:ln>
          <a:effectLst>
            <a:outerShdw sx="100000" sy="100000" kx="0" ky="0" algn="bl" rotWithShape="0" blurRad="127000" dist="38100" dir="5400000">
              <a:srgbClr val="1F2937">
                <a:alpha val="18000"/>
              </a:srgbClr>
            </a:outerShdw>
          </a:effectLst>
        </p:spPr>
      </p:sp>
      <p:pic>
        <p:nvPicPr>
          <p:cNvPr id="9" name="Image 0" descr="Copilot answering a grounded question about project risks with cited sources">    </p:cNvPr>
          <p:cNvPicPr>
            <a:picLocks noChangeAspect="1"/>
          </p:cNvPicPr>
          <p:nvPr/>
        </p:nvPicPr>
        <p:blipFill>
          <a:blip r:embed="rId1"/>
          <a:stretch>
            <a:fillRect/>
          </a:stretch>
        </p:blipFill>
        <p:spPr>
          <a:xfrm>
            <a:off x="5120640" y="2179027"/>
            <a:ext cx="6519672" cy="3368625"/>
          </a:xfrm>
          <a:prstGeom prst="rect">
            <a:avLst/>
          </a:prstGeom>
        </p:spPr>
      </p:pic>
      <p:sp>
        <p:nvSpPr>
          <p:cNvPr id="10" name="Text 7"/>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11" name="Text 8"/>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An agent that plans, acts, and remembers</a:t>
            </a:r>
            <a:endParaRPr lang="en-US" sz="3000" dirty="0"/>
          </a:p>
        </p:txBody>
      </p:sp>
      <p:sp>
        <p:nvSpPr>
          <p:cNvPr id="3" name="Text 1"/>
          <p:cNvSpPr/>
          <p:nvPr/>
        </p:nvSpPr>
        <p:spPr>
          <a:xfrm>
            <a:off x="548640" y="1463040"/>
            <a:ext cx="4206240" cy="4572000"/>
          </a:xfrm>
          <a:prstGeom prst="rect">
            <a:avLst/>
          </a:prstGeom>
          <a:noFill/>
          <a:ln/>
        </p:spPr>
        <p:txBody>
          <a:bodyPr wrap="square" lIns="0" tIns="0" rIns="0" bIns="0" rtlCol="0" anchor="ctr"/>
          <a:lstStyle/>
          <a:p>
            <a:pPr marL="177800" indent="-177800">
              <a:lnSpc>
                <a:spcPct val="130000"/>
              </a:lnSpc>
              <a:spcAft>
                <a:spcPts val="1400"/>
              </a:spcAft>
              <a:buSzPct val="100000"/>
              <a:buChar char="•"/>
            </a:pPr>
            <a:r>
              <a:rPr lang="en-US" sz="1350" dirty="0">
                <a:solidFill>
                  <a:srgbClr val="5B6B79"/>
                </a:solidFill>
                <a:latin typeface="Calibri" pitchFamily="34" charset="0"/>
                <a:ea typeface="Calibri" pitchFamily="34" charset="-122"/>
                <a:cs typeface="Calibri" pitchFamily="34" charset="-120"/>
              </a:rPr>
              <a:t>Chains tool calls across all six workflows and direct lookups to reach a goal.</a:t>
            </a:r>
            <a:endParaRPr lang="en-US" sz="1350" dirty="0"/>
          </a:p>
          <a:p>
            <a:pPr marL="177800" indent="-177800">
              <a:lnSpc>
                <a:spcPct val="130000"/>
              </a:lnSpc>
              <a:spcAft>
                <a:spcPts val="1400"/>
              </a:spcAft>
              <a:buSzPct val="100000"/>
              <a:buChar char="•"/>
            </a:pPr>
            <a:r>
              <a:rPr lang="en-US" sz="1350" dirty="0">
                <a:solidFill>
                  <a:srgbClr val="5B6B79"/>
                </a:solidFill>
                <a:latin typeface="Calibri" pitchFamily="34" charset="0"/>
                <a:ea typeface="Calibri" pitchFamily="34" charset="-122"/>
                <a:cs typeface="Calibri" pitchFamily="34" charset="-120"/>
              </a:rPr>
              <a:t>Turns a solved task into a named, reusable skill — shown here, learned live.</a:t>
            </a:r>
            <a:endParaRPr lang="en-US" sz="1350" dirty="0"/>
          </a:p>
          <a:p>
            <a:pPr marL="177800" indent="-177800">
              <a:lnSpc>
                <a:spcPct val="130000"/>
              </a:lnSpc>
              <a:spcAft>
                <a:spcPts val="1400"/>
              </a:spcAft>
              <a:buSzPct val="100000"/>
              <a:buChar char="•"/>
            </a:pPr>
            <a:r>
              <a:rPr lang="en-US" sz="1350" dirty="0">
                <a:solidFill>
                  <a:srgbClr val="5B6B79"/>
                </a:solidFill>
                <a:latin typeface="Calibri" pitchFamily="34" charset="0"/>
                <a:ea typeface="Calibri" pitchFamily="34" charset="-122"/>
                <a:cs typeface="Calibri" pitchFamily="34" charset="-120"/>
              </a:rPr>
              <a:t>Every tool enforces the same RBAC as its direct API, even on a replayed skill.</a:t>
            </a:r>
            <a:endParaRPr lang="en-US" sz="1350" dirty="0"/>
          </a:p>
          <a:p>
            <a:pPr marL="177800" indent="-177800">
              <a:lnSpc>
                <a:spcPct val="130000"/>
              </a:lnSpc>
              <a:spcAft>
                <a:spcPts val="1400"/>
              </a:spcAft>
              <a:buSzPct val="100000"/>
              <a:buChar char="•"/>
            </a:pPr>
            <a:r>
              <a:rPr lang="en-US" sz="1350" dirty="0">
                <a:solidFill>
                  <a:srgbClr val="5B6B79"/>
                </a:solidFill>
                <a:latin typeface="Calibri" pitchFamily="34" charset="0"/>
                <a:ea typeface="Calibri" pitchFamily="34" charset="-122"/>
                <a:cs typeface="Calibri" pitchFamily="34" charset="-120"/>
              </a:rPr>
              <a:t>Treats retrieved content as data, never instructions — flags embedded overrides.</a:t>
            </a:r>
            <a:endParaRPr lang="en-US" sz="1350" dirty="0"/>
          </a:p>
        </p:txBody>
      </p:sp>
      <p:sp>
        <p:nvSpPr>
          <p:cNvPr id="4" name="Shape 2"/>
          <p:cNvSpPr/>
          <p:nvPr/>
        </p:nvSpPr>
        <p:spPr>
          <a:xfrm>
            <a:off x="5074920" y="2169750"/>
            <a:ext cx="6611112" cy="3432899"/>
          </a:xfrm>
          <a:prstGeom prst="roundRect">
            <a:avLst>
              <a:gd name="adj" fmla="val 2131"/>
            </a:avLst>
          </a:prstGeom>
          <a:solidFill>
            <a:srgbClr val="FFFFFF"/>
          </a:solidFill>
          <a:ln w="12700">
            <a:solidFill>
              <a:srgbClr val="E2E6EA"/>
            </a:solidFill>
            <a:prstDash val="solid"/>
          </a:ln>
          <a:effectLst>
            <a:outerShdw sx="100000" sy="100000" kx="0" ky="0" algn="bl" rotWithShape="0" blurRad="127000" dist="38100" dir="5400000">
              <a:srgbClr val="1F2937">
                <a:alpha val="18000"/>
              </a:srgbClr>
            </a:outerShdw>
          </a:effectLst>
        </p:spPr>
      </p:sp>
      <p:pic>
        <p:nvPicPr>
          <p:cNvPr id="5" name="Image 0" descr="Agent conversation showing a completed run, its tool steps, and a learned reusable skill">    </p:cNvPr>
          <p:cNvPicPr>
            <a:picLocks noChangeAspect="1"/>
          </p:cNvPicPr>
          <p:nvPr/>
        </p:nvPicPr>
        <p:blipFill>
          <a:blip r:embed="rId1"/>
          <a:stretch>
            <a:fillRect/>
          </a:stretch>
        </p:blipFill>
        <p:spPr>
          <a:xfrm>
            <a:off x="5120640" y="2215470"/>
            <a:ext cx="6519672" cy="3341459"/>
          </a:xfrm>
          <a:prstGeom prst="rect">
            <a:avLst/>
          </a:prstGeom>
        </p:spPr>
      </p:pic>
      <p:sp>
        <p:nvSpPr>
          <p:cNvPr id="6" name="Text 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7" name="Text 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Governed by design, not by policy document</a:t>
            </a:r>
            <a:endParaRPr lang="en-US" sz="3000" dirty="0"/>
          </a:p>
        </p:txBody>
      </p:sp>
      <p:sp>
        <p:nvSpPr>
          <p:cNvPr id="3" name="Text 1"/>
          <p:cNvSpPr/>
          <p:nvPr/>
        </p:nvSpPr>
        <p:spPr>
          <a:xfrm>
            <a:off x="548640" y="1463040"/>
            <a:ext cx="4206240" cy="4572000"/>
          </a:xfrm>
          <a:prstGeom prst="rect">
            <a:avLst/>
          </a:prstGeom>
          <a:noFill/>
          <a:ln/>
        </p:spPr>
        <p:txBody>
          <a:bodyPr wrap="square" lIns="0" tIns="0" rIns="0" bIns="0" rtlCol="0" anchor="ctr"/>
          <a:lstStyle/>
          <a:p>
            <a:pPr marL="177800" indent="-177800">
              <a:lnSpc>
                <a:spcPct val="130000"/>
              </a:lnSpc>
              <a:spcAft>
                <a:spcPts val="1400"/>
              </a:spcAft>
              <a:buSzPct val="100000"/>
              <a:buChar char="•"/>
            </a:pPr>
            <a:r>
              <a:rPr lang="en-US" sz="1350" dirty="0">
                <a:solidFill>
                  <a:srgbClr val="5B6B79"/>
                </a:solidFill>
                <a:latin typeface="Calibri" pitchFamily="34" charset="0"/>
                <a:ea typeface="Calibri" pitchFamily="34" charset="-122"/>
                <a:cs typeface="Calibri" pitchFamily="34" charset="-120"/>
              </a:rPr>
              <a:t>Any sensitive action becomes an approval request — the AI never executes alone.</a:t>
            </a:r>
            <a:endParaRPr lang="en-US" sz="1350" dirty="0"/>
          </a:p>
          <a:p>
            <a:pPr marL="177800" indent="-177800">
              <a:lnSpc>
                <a:spcPct val="130000"/>
              </a:lnSpc>
              <a:spcAft>
                <a:spcPts val="1400"/>
              </a:spcAft>
              <a:buSzPct val="100000"/>
              <a:buChar char="•"/>
            </a:pPr>
            <a:r>
              <a:rPr lang="en-US" sz="1350" dirty="0">
                <a:solidFill>
                  <a:srgbClr val="5B6B79"/>
                </a:solidFill>
                <a:latin typeface="Calibri" pitchFamily="34" charset="0"/>
                <a:ea typeface="Calibri" pitchFamily="34" charset="-122"/>
                <a:cs typeface="Calibri" pitchFamily="34" charset="-120"/>
              </a:rPr>
              <a:t>Approving it moves the record forward: the request itself becomes Approved.</a:t>
            </a:r>
            <a:endParaRPr lang="en-US" sz="1350" dirty="0"/>
          </a:p>
          <a:p>
            <a:pPr marL="177800" indent="-177800">
              <a:lnSpc>
                <a:spcPct val="130000"/>
              </a:lnSpc>
              <a:spcAft>
                <a:spcPts val="1400"/>
              </a:spcAft>
              <a:buSzPct val="100000"/>
              <a:buChar char="•"/>
            </a:pPr>
            <a:r>
              <a:rPr lang="en-US" sz="1350" dirty="0">
                <a:solidFill>
                  <a:srgbClr val="5B6B79"/>
                </a:solidFill>
                <a:latin typeface="Calibri" pitchFamily="34" charset="0"/>
                <a:ea typeface="Calibri" pitchFamily="34" charset="-122"/>
                <a:cs typeface="Calibri" pitchFamily="34" charset="-120"/>
              </a:rPr>
              <a:t>Seven-role RBAC; every route and every agent tool checks the same gate.</a:t>
            </a:r>
            <a:endParaRPr lang="en-US" sz="1350" dirty="0"/>
          </a:p>
          <a:p>
            <a:pPr marL="177800" indent="-177800">
              <a:lnSpc>
                <a:spcPct val="130000"/>
              </a:lnSpc>
              <a:spcAft>
                <a:spcPts val="1400"/>
              </a:spcAft>
              <a:buSzPct val="100000"/>
              <a:buChar char="•"/>
            </a:pPr>
            <a:r>
              <a:rPr lang="en-US" sz="1350" dirty="0">
                <a:solidFill>
                  <a:srgbClr val="5B6B79"/>
                </a:solidFill>
                <a:latin typeface="Calibri" pitchFamily="34" charset="0"/>
                <a:ea typeface="Calibri" pitchFamily="34" charset="-122"/>
                <a:cs typeface="Calibri" pitchFamily="34" charset="-120"/>
              </a:rPr>
              <a:t>Every AI call is logged: who asked, what ran, and what it returned.</a:t>
            </a:r>
            <a:endParaRPr lang="en-US" sz="1350" dirty="0"/>
          </a:p>
        </p:txBody>
      </p:sp>
      <p:sp>
        <p:nvSpPr>
          <p:cNvPr id="4" name="Shape 2"/>
          <p:cNvSpPr/>
          <p:nvPr/>
        </p:nvSpPr>
        <p:spPr>
          <a:xfrm>
            <a:off x="5372200" y="1371600"/>
            <a:ext cx="6016553" cy="4983480"/>
          </a:xfrm>
          <a:prstGeom prst="roundRect">
            <a:avLst>
              <a:gd name="adj" fmla="val 1468"/>
            </a:avLst>
          </a:prstGeom>
          <a:solidFill>
            <a:srgbClr val="FFFFFF"/>
          </a:solidFill>
          <a:ln w="12700">
            <a:solidFill>
              <a:srgbClr val="E2E6EA"/>
            </a:solidFill>
            <a:prstDash val="solid"/>
          </a:ln>
          <a:effectLst>
            <a:outerShdw sx="100000" sy="100000" kx="0" ky="0" algn="bl" rotWithShape="0" blurRad="127000" dist="38100" dir="5400000">
              <a:srgbClr val="1F2937">
                <a:alpha val="18000"/>
              </a:srgbClr>
            </a:outerShdw>
          </a:effectLst>
        </p:spPr>
      </p:sp>
      <p:pic>
        <p:nvPicPr>
          <p:cNvPr id="5" name="Image 0" descr="Approval request modal and the AI audit trail logging every AI call">    </p:cNvPr>
          <p:cNvPicPr>
            <a:picLocks noChangeAspect="1"/>
          </p:cNvPicPr>
          <p:nvPr/>
        </p:nvPicPr>
        <p:blipFill>
          <a:blip r:embed="rId1"/>
          <a:stretch>
            <a:fillRect/>
          </a:stretch>
        </p:blipFill>
        <p:spPr>
          <a:xfrm>
            <a:off x="5417920" y="1417320"/>
            <a:ext cx="5925113" cy="4892040"/>
          </a:xfrm>
          <a:prstGeom prst="rect">
            <a:avLst/>
          </a:prstGeom>
        </p:spPr>
      </p:pic>
      <p:sp>
        <p:nvSpPr>
          <p:cNvPr id="6" name="Text 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7" name="Text 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Numbers are computed, not generated</a:t>
            </a:r>
            <a:endParaRPr lang="en-US" sz="3000" dirty="0"/>
          </a:p>
        </p:txBody>
      </p:sp>
      <p:sp>
        <p:nvSpPr>
          <p:cNvPr id="3" name="Text 1"/>
          <p:cNvSpPr/>
          <p:nvPr/>
        </p:nvSpPr>
        <p:spPr>
          <a:xfrm>
            <a:off x="548640" y="1371600"/>
            <a:ext cx="4206240" cy="1600200"/>
          </a:xfrm>
          <a:prstGeom prst="rect">
            <a:avLst/>
          </a:prstGeom>
          <a:noFill/>
          <a:ln/>
        </p:spPr>
        <p:txBody>
          <a:bodyPr wrap="square" lIns="0" tIns="0" rIns="0" bIns="0" rtlCol="0" anchor="ctr"/>
          <a:lstStyle/>
          <a:p>
            <a:pPr indent="0" marL="0">
              <a:lnSpc>
                <a:spcPct val="132000"/>
              </a:lnSpc>
              <a:buNone/>
            </a:pPr>
            <a:r>
              <a:rPr lang="en-US" sz="1400" dirty="0">
                <a:solidFill>
                  <a:srgbClr val="5B6B79"/>
                </a:solidFill>
                <a:latin typeface="Calibri" pitchFamily="34" charset="0"/>
                <a:ea typeface="Calibri" pitchFamily="34" charset="-122"/>
                <a:cs typeface="Calibri" pitchFamily="34" charset="-120"/>
              </a:rPr>
              <a:t>Every figure a decision depends on is computed in code from the database — never restated by the model. The language model is used only for what it is actually good at: reading unstructured text and writing prose.</a:t>
            </a:r>
            <a:endParaRPr lang="en-US" sz="1400" dirty="0"/>
          </a:p>
        </p:txBody>
      </p:sp>
      <p:sp>
        <p:nvSpPr>
          <p:cNvPr id="4" name="Shape 2"/>
          <p:cNvSpPr/>
          <p:nvPr/>
        </p:nvSpPr>
        <p:spPr>
          <a:xfrm>
            <a:off x="548640" y="3063240"/>
            <a:ext cx="502920" cy="502920"/>
          </a:xfrm>
          <a:prstGeom prst="ellipse">
            <a:avLst/>
          </a:prstGeom>
          <a:solidFill>
            <a:srgbClr val="E8622C"/>
          </a:solidFill>
          <a:ln/>
        </p:spPr>
      </p:sp>
      <p:pic>
        <p:nvPicPr>
          <p:cNvPr id="5" name="Image 0" descr="preencoded.png">    </p:cNvPr>
          <p:cNvPicPr>
            <a:picLocks noChangeAspect="1"/>
          </p:cNvPicPr>
          <p:nvPr/>
        </p:nvPicPr>
        <p:blipFill>
          <a:blip r:embed="rId1"/>
          <a:stretch>
            <a:fillRect/>
          </a:stretch>
        </p:blipFill>
        <p:spPr>
          <a:xfrm>
            <a:off x="661797" y="3176397"/>
            <a:ext cx="276606" cy="276606"/>
          </a:xfrm>
          <a:prstGeom prst="rect">
            <a:avLst/>
          </a:prstGeom>
        </p:spPr>
      </p:pic>
      <p:sp>
        <p:nvSpPr>
          <p:cNvPr id="6" name="Text 3"/>
          <p:cNvSpPr/>
          <p:nvPr/>
        </p:nvSpPr>
        <p:spPr>
          <a:xfrm>
            <a:off x="1207008" y="3035808"/>
            <a:ext cx="3566160" cy="365760"/>
          </a:xfrm>
          <a:prstGeom prst="rect">
            <a:avLst/>
          </a:prstGeom>
          <a:noFill/>
          <a:ln/>
        </p:spPr>
        <p:txBody>
          <a:bodyPr wrap="square" lIns="0" tIns="0" rIns="0" bIns="0" rtlCol="0" anchor="ctr"/>
          <a:lstStyle/>
          <a:p>
            <a:pPr indent="0" marL="0">
              <a:buNone/>
            </a:pPr>
            <a:r>
              <a:rPr lang="en-US" sz="1400" b="1" dirty="0">
                <a:solidFill>
                  <a:srgbClr val="132A46"/>
                </a:solidFill>
                <a:latin typeface="Calibri" pitchFamily="34" charset="0"/>
                <a:ea typeface="Calibri" pitchFamily="34" charset="-122"/>
                <a:cs typeface="Calibri" pitchFamily="34" charset="-120"/>
              </a:rPr>
              <a:t>Computed in code</a:t>
            </a:r>
            <a:endParaRPr lang="en-US" sz="1400" dirty="0"/>
          </a:p>
        </p:txBody>
      </p:sp>
      <p:sp>
        <p:nvSpPr>
          <p:cNvPr id="7" name="Text 4"/>
          <p:cNvSpPr/>
          <p:nvPr/>
        </p:nvSpPr>
        <p:spPr>
          <a:xfrm>
            <a:off x="1207008" y="3410712"/>
            <a:ext cx="3566160" cy="1051560"/>
          </a:xfrm>
          <a:prstGeom prst="rect">
            <a:avLst/>
          </a:prstGeom>
          <a:noFill/>
          <a:ln/>
        </p:spPr>
        <p:txBody>
          <a:bodyPr wrap="square" lIns="0" tIns="0" rIns="0" bIns="0" rtlCol="0" anchor="ctr"/>
          <a:lstStyle/>
          <a:p>
            <a:pPr indent="0" marL="0">
              <a:lnSpc>
                <a:spcPct val="125000"/>
              </a:lnSpc>
              <a:buNone/>
            </a:pPr>
            <a:r>
              <a:rPr lang="en-US" sz="1200" dirty="0">
                <a:solidFill>
                  <a:srgbClr val="5B6B79"/>
                </a:solidFill>
                <a:latin typeface="Calibri" pitchFamily="34" charset="0"/>
                <a:ea typeface="Calibri" pitchFamily="34" charset="-122"/>
                <a:cs typeface="Calibri" pitchFamily="34" charset="-120"/>
              </a:rPr>
              <a:t>KPI tiles: on-time rates, overdue counts, totals — byte-exact against the database.</a:t>
            </a:r>
            <a:endParaRPr lang="en-US" sz="1200" dirty="0"/>
          </a:p>
        </p:txBody>
      </p:sp>
      <p:sp>
        <p:nvSpPr>
          <p:cNvPr id="8" name="Shape 5"/>
          <p:cNvSpPr/>
          <p:nvPr/>
        </p:nvSpPr>
        <p:spPr>
          <a:xfrm>
            <a:off x="548640" y="4572000"/>
            <a:ext cx="502920" cy="502920"/>
          </a:xfrm>
          <a:prstGeom prst="ellipse">
            <a:avLst/>
          </a:prstGeom>
          <a:solidFill>
            <a:srgbClr val="132A46"/>
          </a:solidFill>
          <a:ln/>
        </p:spPr>
      </p:sp>
      <p:pic>
        <p:nvPicPr>
          <p:cNvPr id="9" name="Image 1" descr="preencoded.png">    </p:cNvPr>
          <p:cNvPicPr>
            <a:picLocks noChangeAspect="1"/>
          </p:cNvPicPr>
          <p:nvPr/>
        </p:nvPicPr>
        <p:blipFill>
          <a:blip r:embed="rId2"/>
          <a:stretch>
            <a:fillRect/>
          </a:stretch>
        </p:blipFill>
        <p:spPr>
          <a:xfrm>
            <a:off x="661797" y="4685157"/>
            <a:ext cx="276606" cy="276606"/>
          </a:xfrm>
          <a:prstGeom prst="rect">
            <a:avLst/>
          </a:prstGeom>
        </p:spPr>
      </p:pic>
      <p:sp>
        <p:nvSpPr>
          <p:cNvPr id="10" name="Text 6"/>
          <p:cNvSpPr/>
          <p:nvPr/>
        </p:nvSpPr>
        <p:spPr>
          <a:xfrm>
            <a:off x="1207008" y="4544568"/>
            <a:ext cx="3566160" cy="365760"/>
          </a:xfrm>
          <a:prstGeom prst="rect">
            <a:avLst/>
          </a:prstGeom>
          <a:noFill/>
          <a:ln/>
        </p:spPr>
        <p:txBody>
          <a:bodyPr wrap="square" lIns="0" tIns="0" rIns="0" bIns="0" rtlCol="0" anchor="ctr"/>
          <a:lstStyle/>
          <a:p>
            <a:pPr indent="0" marL="0">
              <a:buNone/>
            </a:pPr>
            <a:r>
              <a:rPr lang="en-US" sz="1400" b="1" dirty="0">
                <a:solidFill>
                  <a:srgbClr val="132A46"/>
                </a:solidFill>
                <a:latin typeface="Calibri" pitchFamily="34" charset="0"/>
                <a:ea typeface="Calibri" pitchFamily="34" charset="-122"/>
                <a:cs typeface="Calibri" pitchFamily="34" charset="-120"/>
              </a:rPr>
              <a:t>Generated by the model</a:t>
            </a:r>
            <a:endParaRPr lang="en-US" sz="1400" dirty="0"/>
          </a:p>
        </p:txBody>
      </p:sp>
      <p:sp>
        <p:nvSpPr>
          <p:cNvPr id="11" name="Text 7"/>
          <p:cNvSpPr/>
          <p:nvPr/>
        </p:nvSpPr>
        <p:spPr>
          <a:xfrm>
            <a:off x="1207008" y="4919472"/>
            <a:ext cx="3566160" cy="1051560"/>
          </a:xfrm>
          <a:prstGeom prst="rect">
            <a:avLst/>
          </a:prstGeom>
          <a:noFill/>
          <a:ln/>
        </p:spPr>
        <p:txBody>
          <a:bodyPr wrap="square" lIns="0" tIns="0" rIns="0" bIns="0" rtlCol="0" anchor="ctr"/>
          <a:lstStyle/>
          <a:p>
            <a:pPr indent="0" marL="0">
              <a:lnSpc>
                <a:spcPct val="125000"/>
              </a:lnSpc>
              <a:buNone/>
            </a:pPr>
            <a:r>
              <a:rPr lang="en-US" sz="1200" dirty="0">
                <a:solidFill>
                  <a:srgbClr val="5B6B79"/>
                </a:solidFill>
                <a:latin typeface="Calibri" pitchFamily="34" charset="0"/>
                <a:ea typeface="Calibri" pitchFamily="34" charset="-122"/>
                <a:cs typeface="Calibri" pitchFamily="34" charset="-120"/>
              </a:rPr>
              <a:t>The narrative below them: judgment and prose, never a number of its own.</a:t>
            </a:r>
            <a:endParaRPr lang="en-US" sz="1200" dirty="0"/>
          </a:p>
        </p:txBody>
      </p:sp>
      <p:sp>
        <p:nvSpPr>
          <p:cNvPr id="12" name="Shape 8"/>
          <p:cNvSpPr/>
          <p:nvPr/>
        </p:nvSpPr>
        <p:spPr>
          <a:xfrm>
            <a:off x="5074920" y="1982879"/>
            <a:ext cx="6611112" cy="3486603"/>
          </a:xfrm>
          <a:prstGeom prst="roundRect">
            <a:avLst>
              <a:gd name="adj" fmla="val 2098"/>
            </a:avLst>
          </a:prstGeom>
          <a:solidFill>
            <a:srgbClr val="FFFFFF"/>
          </a:solidFill>
          <a:ln w="12700">
            <a:solidFill>
              <a:srgbClr val="E2E6EA"/>
            </a:solidFill>
            <a:prstDash val="solid"/>
          </a:ln>
          <a:effectLst>
            <a:outerShdw sx="100000" sy="100000" kx="0" ky="0" algn="bl" rotWithShape="0" blurRad="127000" dist="38100" dir="5400000">
              <a:srgbClr val="1F2937">
                <a:alpha val="18000"/>
              </a:srgbClr>
            </a:outerShdw>
          </a:effectLst>
        </p:spPr>
      </p:sp>
      <p:pic>
        <p:nvPicPr>
          <p:cNvPr id="13" name="Image 2" descr="Executive weekly report with computed KPI tiles and an AI-written narrative">    </p:cNvPr>
          <p:cNvPicPr>
            <a:picLocks noChangeAspect="1"/>
          </p:cNvPicPr>
          <p:nvPr/>
        </p:nvPicPr>
        <p:blipFill>
          <a:blip r:embed="rId3"/>
          <a:stretch>
            <a:fillRect/>
          </a:stretch>
        </p:blipFill>
        <p:spPr>
          <a:xfrm>
            <a:off x="5120640" y="2028599"/>
            <a:ext cx="6519672" cy="3395163"/>
          </a:xfrm>
          <a:prstGeom prst="rect">
            <a:avLst/>
          </a:prstGeom>
        </p:spPr>
      </p:pic>
      <p:sp>
        <p:nvSpPr>
          <p:cNvPr id="14" name="Text 9"/>
          <p:cNvSpPr/>
          <p:nvPr/>
        </p:nvSpPr>
        <p:spPr>
          <a:xfrm>
            <a:off x="5120640" y="5515201"/>
            <a:ext cx="6519672" cy="274320"/>
          </a:xfrm>
          <a:prstGeom prst="rect">
            <a:avLst/>
          </a:prstGeom>
          <a:noFill/>
          <a:ln/>
        </p:spPr>
        <p:txBody>
          <a:bodyPr wrap="square" lIns="0" tIns="0" rIns="0" bIns="0" rtlCol="0" anchor="ctr"/>
          <a:lstStyle/>
          <a:p>
            <a:pPr algn="ctr" indent="0" marL="0">
              <a:buNone/>
            </a:pPr>
            <a:r>
              <a:rPr lang="en-US" sz="1100" i="1" dirty="0">
                <a:solidFill>
                  <a:srgbClr val="8A97A3"/>
                </a:solidFill>
                <a:latin typeface="Calibri" pitchFamily="34" charset="0"/>
                <a:ea typeface="Calibri" pitchFamily="34" charset="-122"/>
                <a:cs typeface="Calibri" pitchFamily="34" charset="-120"/>
              </a:rPr>
              <a:t>A real executive report — computed tiles above, AI narrative below</a:t>
            </a:r>
            <a:endParaRPr lang="en-US" sz="1100" dirty="0"/>
          </a:p>
        </p:txBody>
      </p:sp>
      <p:sp>
        <p:nvSpPr>
          <p:cNvPr id="15" name="Text 10"/>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16" name="Text 1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Built bilingual, tested like production software</a:t>
            </a:r>
            <a:endParaRPr lang="en-US" sz="3000" dirty="0"/>
          </a:p>
        </p:txBody>
      </p:sp>
      <p:sp>
        <p:nvSpPr>
          <p:cNvPr id="3" name="Shape 1"/>
          <p:cNvSpPr/>
          <p:nvPr/>
        </p:nvSpPr>
        <p:spPr>
          <a:xfrm>
            <a:off x="548640" y="1417320"/>
            <a:ext cx="1828800" cy="1371600"/>
          </a:xfrm>
          <a:prstGeom prst="roundRect">
            <a:avLst>
              <a:gd name="adj" fmla="val 6667"/>
            </a:avLst>
          </a:prstGeom>
          <a:solidFill>
            <a:srgbClr val="132A46"/>
          </a:solidFill>
          <a:ln/>
        </p:spPr>
      </p:sp>
      <p:sp>
        <p:nvSpPr>
          <p:cNvPr id="4" name="Text 2"/>
          <p:cNvSpPr/>
          <p:nvPr/>
        </p:nvSpPr>
        <p:spPr>
          <a:xfrm>
            <a:off x="548640" y="1554480"/>
            <a:ext cx="1828800" cy="731520"/>
          </a:xfrm>
          <a:prstGeom prst="rect">
            <a:avLst/>
          </a:prstGeom>
          <a:noFill/>
          <a:ln/>
        </p:spPr>
        <p:txBody>
          <a:bodyPr wrap="square" lIns="0" tIns="0" rIns="0" bIns="0" rtlCol="0" anchor="ctr"/>
          <a:lstStyle/>
          <a:p>
            <a:pPr algn="ctr" indent="0" marL="0">
              <a:buNone/>
            </a:pPr>
            <a:r>
              <a:rPr lang="en-US" sz="3400" b="1" dirty="0">
                <a:solidFill>
                  <a:srgbClr val="E8622C"/>
                </a:solidFill>
                <a:latin typeface="Calibri" pitchFamily="34" charset="0"/>
                <a:ea typeface="Calibri" pitchFamily="34" charset="-122"/>
                <a:cs typeface="Calibri" pitchFamily="34" charset="-120"/>
              </a:rPr>
              <a:t>368</a:t>
            </a:r>
            <a:endParaRPr lang="en-US" sz="3400" dirty="0"/>
          </a:p>
        </p:txBody>
      </p:sp>
      <p:sp>
        <p:nvSpPr>
          <p:cNvPr id="5" name="Text 3"/>
          <p:cNvSpPr/>
          <p:nvPr/>
        </p:nvSpPr>
        <p:spPr>
          <a:xfrm>
            <a:off x="640080" y="2331720"/>
            <a:ext cx="1645920" cy="365760"/>
          </a:xfrm>
          <a:prstGeom prst="rect">
            <a:avLst/>
          </a:prstGeom>
          <a:noFill/>
          <a:ln/>
        </p:spPr>
        <p:txBody>
          <a:bodyPr wrap="square" lIns="0" tIns="0" rIns="0" bIns="0" rtlCol="0" anchor="ctr"/>
          <a:lstStyle/>
          <a:p>
            <a:pPr algn="ctr" indent="0" marL="0">
              <a:buNone/>
            </a:pPr>
            <a:r>
              <a:rPr lang="en-US" sz="1100" dirty="0">
                <a:solidFill>
                  <a:srgbClr val="C7D2DE"/>
                </a:solidFill>
                <a:latin typeface="Calibri" pitchFamily="34" charset="0"/>
                <a:ea typeface="Calibri" pitchFamily="34" charset="-122"/>
                <a:cs typeface="Calibri" pitchFamily="34" charset="-120"/>
              </a:rPr>
              <a:t>automated tests</a:t>
            </a:r>
            <a:endParaRPr lang="en-US" sz="1100" dirty="0"/>
          </a:p>
        </p:txBody>
      </p:sp>
      <p:sp>
        <p:nvSpPr>
          <p:cNvPr id="6" name="Shape 4"/>
          <p:cNvSpPr/>
          <p:nvPr/>
        </p:nvSpPr>
        <p:spPr>
          <a:xfrm>
            <a:off x="2560320" y="1417320"/>
            <a:ext cx="1828800" cy="1371600"/>
          </a:xfrm>
          <a:prstGeom prst="roundRect">
            <a:avLst>
              <a:gd name="adj" fmla="val 6667"/>
            </a:avLst>
          </a:prstGeom>
          <a:solidFill>
            <a:srgbClr val="F4F6F8"/>
          </a:solidFill>
          <a:ln/>
        </p:spPr>
      </p:sp>
      <p:sp>
        <p:nvSpPr>
          <p:cNvPr id="7" name="Text 5"/>
          <p:cNvSpPr/>
          <p:nvPr/>
        </p:nvSpPr>
        <p:spPr>
          <a:xfrm>
            <a:off x="2560320" y="1554480"/>
            <a:ext cx="1828800" cy="731520"/>
          </a:xfrm>
          <a:prstGeom prst="rect">
            <a:avLst/>
          </a:prstGeom>
          <a:noFill/>
          <a:ln/>
        </p:spPr>
        <p:txBody>
          <a:bodyPr wrap="square" lIns="0" tIns="0" rIns="0" bIns="0" rtlCol="0" anchor="ctr"/>
          <a:lstStyle/>
          <a:p>
            <a:pPr algn="ctr" indent="0" marL="0">
              <a:buNone/>
            </a:pPr>
            <a:r>
              <a:rPr lang="en-US" sz="3400" b="1" dirty="0">
                <a:solidFill>
                  <a:srgbClr val="132A46"/>
                </a:solidFill>
                <a:latin typeface="Calibri" pitchFamily="34" charset="0"/>
                <a:ea typeface="Calibri" pitchFamily="34" charset="-122"/>
                <a:cs typeface="Calibri" pitchFamily="34" charset="-120"/>
              </a:rPr>
              <a:t>41</a:t>
            </a:r>
            <a:endParaRPr lang="en-US" sz="3400" dirty="0"/>
          </a:p>
        </p:txBody>
      </p:sp>
      <p:sp>
        <p:nvSpPr>
          <p:cNvPr id="8" name="Text 6"/>
          <p:cNvSpPr/>
          <p:nvPr/>
        </p:nvSpPr>
        <p:spPr>
          <a:xfrm>
            <a:off x="2651760" y="2331720"/>
            <a:ext cx="1645920" cy="365760"/>
          </a:xfrm>
          <a:prstGeom prst="rect">
            <a:avLst/>
          </a:prstGeom>
          <a:noFill/>
          <a:ln/>
        </p:spPr>
        <p:txBody>
          <a:bodyPr wrap="square" lIns="0" tIns="0" rIns="0" bIns="0" rtlCol="0" anchor="ctr"/>
          <a:lstStyle/>
          <a:p>
            <a:pPr algn="ctr" indent="0" marL="0">
              <a:buNone/>
            </a:pPr>
            <a:r>
              <a:rPr lang="en-US" sz="1100" dirty="0">
                <a:solidFill>
                  <a:srgbClr val="5B6B79"/>
                </a:solidFill>
                <a:latin typeface="Calibri" pitchFamily="34" charset="0"/>
                <a:ea typeface="Calibri" pitchFamily="34" charset="-122"/>
                <a:cs typeface="Calibri" pitchFamily="34" charset="-120"/>
              </a:rPr>
              <a:t>database tables</a:t>
            </a:r>
            <a:endParaRPr lang="en-US" sz="1100" dirty="0"/>
          </a:p>
        </p:txBody>
      </p:sp>
      <p:sp>
        <p:nvSpPr>
          <p:cNvPr id="9" name="Shape 7"/>
          <p:cNvSpPr/>
          <p:nvPr/>
        </p:nvSpPr>
        <p:spPr>
          <a:xfrm>
            <a:off x="4572000" y="1417320"/>
            <a:ext cx="1828800" cy="1371600"/>
          </a:xfrm>
          <a:prstGeom prst="roundRect">
            <a:avLst>
              <a:gd name="adj" fmla="val 6667"/>
            </a:avLst>
          </a:prstGeom>
          <a:solidFill>
            <a:srgbClr val="132A46"/>
          </a:solidFill>
          <a:ln/>
        </p:spPr>
      </p:sp>
      <p:sp>
        <p:nvSpPr>
          <p:cNvPr id="10" name="Text 8"/>
          <p:cNvSpPr/>
          <p:nvPr/>
        </p:nvSpPr>
        <p:spPr>
          <a:xfrm>
            <a:off x="4572000" y="1554480"/>
            <a:ext cx="1828800" cy="731520"/>
          </a:xfrm>
          <a:prstGeom prst="rect">
            <a:avLst/>
          </a:prstGeom>
          <a:noFill/>
          <a:ln/>
        </p:spPr>
        <p:txBody>
          <a:bodyPr wrap="square" lIns="0" tIns="0" rIns="0" bIns="0" rtlCol="0" anchor="ctr"/>
          <a:lstStyle/>
          <a:p>
            <a:pPr algn="ctr" indent="0" marL="0">
              <a:buNone/>
            </a:pPr>
            <a:r>
              <a:rPr lang="en-US" sz="3400" b="1" dirty="0">
                <a:solidFill>
                  <a:srgbClr val="E8622C"/>
                </a:solidFill>
                <a:latin typeface="Calibri" pitchFamily="34" charset="0"/>
                <a:ea typeface="Calibri" pitchFamily="34" charset="-122"/>
                <a:cs typeface="Calibri" pitchFamily="34" charset="-120"/>
              </a:rPr>
              <a:t>9</a:t>
            </a:r>
            <a:endParaRPr lang="en-US" sz="3400" dirty="0"/>
          </a:p>
        </p:txBody>
      </p:sp>
      <p:sp>
        <p:nvSpPr>
          <p:cNvPr id="11" name="Text 9"/>
          <p:cNvSpPr/>
          <p:nvPr/>
        </p:nvSpPr>
        <p:spPr>
          <a:xfrm>
            <a:off x="4663440" y="2331720"/>
            <a:ext cx="1645920" cy="365760"/>
          </a:xfrm>
          <a:prstGeom prst="rect">
            <a:avLst/>
          </a:prstGeom>
          <a:noFill/>
          <a:ln/>
        </p:spPr>
        <p:txBody>
          <a:bodyPr wrap="square" lIns="0" tIns="0" rIns="0" bIns="0" rtlCol="0" anchor="ctr"/>
          <a:lstStyle/>
          <a:p>
            <a:pPr algn="ctr" indent="0" marL="0">
              <a:buNone/>
            </a:pPr>
            <a:r>
              <a:rPr lang="en-US" sz="1100" dirty="0">
                <a:solidFill>
                  <a:srgbClr val="C7D2DE"/>
                </a:solidFill>
                <a:latin typeface="Calibri" pitchFamily="34" charset="0"/>
                <a:ea typeface="Calibri" pitchFamily="34" charset="-122"/>
                <a:cs typeface="Calibri" pitchFamily="34" charset="-120"/>
              </a:rPr>
              <a:t>functional modules</a:t>
            </a:r>
            <a:endParaRPr lang="en-US" sz="1100" dirty="0"/>
          </a:p>
        </p:txBody>
      </p:sp>
      <p:sp>
        <p:nvSpPr>
          <p:cNvPr id="12" name="Shape 10"/>
          <p:cNvSpPr/>
          <p:nvPr/>
        </p:nvSpPr>
        <p:spPr>
          <a:xfrm>
            <a:off x="6583680" y="1417320"/>
            <a:ext cx="1828800" cy="1371600"/>
          </a:xfrm>
          <a:prstGeom prst="roundRect">
            <a:avLst>
              <a:gd name="adj" fmla="val 6667"/>
            </a:avLst>
          </a:prstGeom>
          <a:solidFill>
            <a:srgbClr val="F4F6F8"/>
          </a:solidFill>
          <a:ln/>
        </p:spPr>
      </p:sp>
      <p:sp>
        <p:nvSpPr>
          <p:cNvPr id="13" name="Text 11"/>
          <p:cNvSpPr/>
          <p:nvPr/>
        </p:nvSpPr>
        <p:spPr>
          <a:xfrm>
            <a:off x="6583680" y="1554480"/>
            <a:ext cx="1828800" cy="731520"/>
          </a:xfrm>
          <a:prstGeom prst="rect">
            <a:avLst/>
          </a:prstGeom>
          <a:noFill/>
          <a:ln/>
        </p:spPr>
        <p:txBody>
          <a:bodyPr wrap="square" lIns="0" tIns="0" rIns="0" bIns="0" rtlCol="0" anchor="ctr"/>
          <a:lstStyle/>
          <a:p>
            <a:pPr algn="ctr" indent="0" marL="0">
              <a:buNone/>
            </a:pPr>
            <a:r>
              <a:rPr lang="en-US" sz="3400" b="1" dirty="0">
                <a:solidFill>
                  <a:srgbClr val="132A46"/>
                </a:solidFill>
                <a:latin typeface="Calibri" pitchFamily="34" charset="0"/>
                <a:ea typeface="Calibri" pitchFamily="34" charset="-122"/>
                <a:cs typeface="Calibri" pitchFamily="34" charset="-120"/>
              </a:rPr>
              <a:t>7</a:t>
            </a:r>
            <a:endParaRPr lang="en-US" sz="3400" dirty="0"/>
          </a:p>
        </p:txBody>
      </p:sp>
      <p:sp>
        <p:nvSpPr>
          <p:cNvPr id="14" name="Text 12"/>
          <p:cNvSpPr/>
          <p:nvPr/>
        </p:nvSpPr>
        <p:spPr>
          <a:xfrm>
            <a:off x="6675120" y="2331720"/>
            <a:ext cx="1645920" cy="365760"/>
          </a:xfrm>
          <a:prstGeom prst="rect">
            <a:avLst/>
          </a:prstGeom>
          <a:noFill/>
          <a:ln/>
        </p:spPr>
        <p:txBody>
          <a:bodyPr wrap="square" lIns="0" tIns="0" rIns="0" bIns="0" rtlCol="0" anchor="ctr"/>
          <a:lstStyle/>
          <a:p>
            <a:pPr algn="ctr" indent="0" marL="0">
              <a:buNone/>
            </a:pPr>
            <a:r>
              <a:rPr lang="en-US" sz="1100" dirty="0">
                <a:solidFill>
                  <a:srgbClr val="5B6B79"/>
                </a:solidFill>
                <a:latin typeface="Calibri" pitchFamily="34" charset="0"/>
                <a:ea typeface="Calibri" pitchFamily="34" charset="-122"/>
                <a:cs typeface="Calibri" pitchFamily="34" charset="-120"/>
              </a:rPr>
              <a:t>RBAC roles</a:t>
            </a:r>
            <a:endParaRPr lang="en-US" sz="1100" dirty="0"/>
          </a:p>
        </p:txBody>
      </p:sp>
      <p:sp>
        <p:nvSpPr>
          <p:cNvPr id="15" name="Text 13"/>
          <p:cNvSpPr/>
          <p:nvPr/>
        </p:nvSpPr>
        <p:spPr>
          <a:xfrm>
            <a:off x="548640" y="3063240"/>
            <a:ext cx="4206240" cy="3200400"/>
          </a:xfrm>
          <a:prstGeom prst="rect">
            <a:avLst/>
          </a:prstGeom>
          <a:noFill/>
          <a:ln/>
        </p:spPr>
        <p:txBody>
          <a:bodyPr wrap="square" lIns="0" tIns="0" rIns="0" bIns="0" rtlCol="0" anchor="ctr"/>
          <a:lstStyle/>
          <a:p>
            <a:pPr indent="0" marL="0">
              <a:lnSpc>
                <a:spcPct val="135000"/>
              </a:lnSpc>
              <a:buNone/>
            </a:pPr>
            <a:r>
              <a:rPr lang="en-US" sz="1350" dirty="0">
                <a:solidFill>
                  <a:srgbClr val="5B6B79"/>
                </a:solidFill>
                <a:latin typeface="Calibri" pitchFamily="34" charset="0"/>
                <a:ea typeface="Calibri" pitchFamily="34" charset="-122"/>
                <a:cs typeface="Calibri" pitchFamily="34" charset="-120"/>
              </a:rPr>
              <a:t>Arabic runs right-to-left throughout the interface, and AI-generated reports, reviews, and summaries are written natively in the language of the request — not machine-translated afterward. CI runs lint, typecheck, build, and translation-parity checks on every change.</a:t>
            </a:r>
            <a:endParaRPr lang="en-US" sz="1350" dirty="0"/>
          </a:p>
        </p:txBody>
      </p:sp>
      <p:sp>
        <p:nvSpPr>
          <p:cNvPr id="16" name="Shape 14"/>
          <p:cNvSpPr/>
          <p:nvPr/>
        </p:nvSpPr>
        <p:spPr>
          <a:xfrm>
            <a:off x="5548155" y="3017520"/>
            <a:ext cx="5664642" cy="2971800"/>
          </a:xfrm>
          <a:prstGeom prst="roundRect">
            <a:avLst>
              <a:gd name="adj" fmla="val 2462"/>
            </a:avLst>
          </a:prstGeom>
          <a:solidFill>
            <a:srgbClr val="FFFFFF"/>
          </a:solidFill>
          <a:ln w="12700">
            <a:solidFill>
              <a:srgbClr val="E2E6EA"/>
            </a:solidFill>
            <a:prstDash val="solid"/>
          </a:ln>
          <a:effectLst>
            <a:outerShdw sx="100000" sy="100000" kx="0" ky="0" algn="bl" rotWithShape="0" blurRad="127000" dist="38100" dir="5400000">
              <a:srgbClr val="1F2937">
                <a:alpha val="18000"/>
              </a:srgbClr>
            </a:outerShdw>
          </a:effectLst>
        </p:spPr>
      </p:sp>
      <p:pic>
        <p:nvPicPr>
          <p:cNvPr id="17" name="Image 0" descr="The dashboard shown fully right-to-left in Arabic">    </p:cNvPr>
          <p:cNvPicPr>
            <a:picLocks noChangeAspect="1"/>
          </p:cNvPicPr>
          <p:nvPr/>
        </p:nvPicPr>
        <p:blipFill>
          <a:blip r:embed="rId1"/>
          <a:stretch>
            <a:fillRect/>
          </a:stretch>
        </p:blipFill>
        <p:spPr>
          <a:xfrm>
            <a:off x="5593875" y="3063240"/>
            <a:ext cx="5573202" cy="2880360"/>
          </a:xfrm>
          <a:prstGeom prst="rect">
            <a:avLst/>
          </a:prstGeom>
        </p:spPr>
      </p:pic>
      <p:sp>
        <p:nvSpPr>
          <p:cNvPr id="18" name="Text 15"/>
          <p:cNvSpPr/>
          <p:nvPr/>
        </p:nvSpPr>
        <p:spPr>
          <a:xfrm>
            <a:off x="5593875" y="6035040"/>
            <a:ext cx="5573202" cy="274320"/>
          </a:xfrm>
          <a:prstGeom prst="rect">
            <a:avLst/>
          </a:prstGeom>
          <a:noFill/>
          <a:ln/>
        </p:spPr>
        <p:txBody>
          <a:bodyPr wrap="square" lIns="0" tIns="0" rIns="0" bIns="0" rtlCol="0" anchor="ctr"/>
          <a:lstStyle/>
          <a:p>
            <a:pPr algn="ctr" indent="0" marL="0">
              <a:buNone/>
            </a:pPr>
            <a:r>
              <a:rPr lang="en-US" sz="1100" i="1" dirty="0">
                <a:solidFill>
                  <a:srgbClr val="8A97A3"/>
                </a:solidFill>
                <a:latin typeface="Calibri" pitchFamily="34" charset="0"/>
                <a:ea typeface="Calibri" pitchFamily="34" charset="-122"/>
                <a:cs typeface="Calibri" pitchFamily="34" charset="-120"/>
              </a:rPr>
              <a:t>The same interface, fully right-to-left</a:t>
            </a:r>
            <a:endParaRPr lang="en-US" sz="1100" dirty="0"/>
          </a:p>
        </p:txBody>
      </p:sp>
      <p:sp>
        <p:nvSpPr>
          <p:cNvPr id="19" name="Text 16"/>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20" name="Text 17"/>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685800"/>
          </a:xfrm>
          <a:prstGeom prst="rect">
            <a:avLst/>
          </a:prstGeom>
          <a:noFill/>
          <a:ln/>
        </p:spPr>
        <p:txBody>
          <a:bodyPr wrap="square" lIns="0" tIns="0" rIns="0" bIns="0" rtlCol="0" anchor="ctr"/>
          <a:lstStyle/>
          <a:p>
            <a:pPr algn="l" indent="0" marL="0">
              <a:buNone/>
            </a:pPr>
            <a:r>
              <a:rPr lang="en-US" sz="3000" b="1" dirty="0">
                <a:solidFill>
                  <a:srgbClr val="132A46"/>
                </a:solidFill>
                <a:latin typeface="Calibri" pitchFamily="34" charset="0"/>
                <a:ea typeface="Calibri" pitchFamily="34" charset="-122"/>
                <a:cs typeface="Calibri" pitchFamily="34" charset="-120"/>
              </a:rPr>
              <a:t>Built on a modern, typed, async stack</a:t>
            </a:r>
            <a:endParaRPr lang="en-US" sz="3000" dirty="0"/>
          </a:p>
        </p:txBody>
      </p:sp>
      <p:sp>
        <p:nvSpPr>
          <p:cNvPr id="3" name="Shape 1"/>
          <p:cNvSpPr/>
          <p:nvPr/>
        </p:nvSpPr>
        <p:spPr>
          <a:xfrm>
            <a:off x="548640" y="1600200"/>
            <a:ext cx="3520440" cy="4114800"/>
          </a:xfrm>
          <a:prstGeom prst="roundRect">
            <a:avLst>
              <a:gd name="adj" fmla="val 3117"/>
            </a:avLst>
          </a:prstGeom>
          <a:solidFill>
            <a:srgbClr val="F4F6F8"/>
          </a:solidFill>
          <a:ln/>
        </p:spPr>
      </p:sp>
      <p:sp>
        <p:nvSpPr>
          <p:cNvPr id="4" name="Shape 2"/>
          <p:cNvSpPr/>
          <p:nvPr/>
        </p:nvSpPr>
        <p:spPr>
          <a:xfrm>
            <a:off x="822960" y="1874520"/>
            <a:ext cx="621792" cy="621792"/>
          </a:xfrm>
          <a:prstGeom prst="ellipse">
            <a:avLst/>
          </a:prstGeom>
          <a:solidFill>
            <a:srgbClr val="132A46"/>
          </a:solidFill>
          <a:ln/>
        </p:spPr>
      </p:sp>
      <p:pic>
        <p:nvPicPr>
          <p:cNvPr id="5" name="Image 0" descr="preencoded.png">    </p:cNvPr>
          <p:cNvPicPr>
            <a:picLocks noChangeAspect="1"/>
          </p:cNvPicPr>
          <p:nvPr/>
        </p:nvPicPr>
        <p:blipFill>
          <a:blip r:embed="rId1"/>
          <a:stretch>
            <a:fillRect/>
          </a:stretch>
        </p:blipFill>
        <p:spPr>
          <a:xfrm>
            <a:off x="962863" y="2014423"/>
            <a:ext cx="341986" cy="341986"/>
          </a:xfrm>
          <a:prstGeom prst="rect">
            <a:avLst/>
          </a:prstGeom>
        </p:spPr>
      </p:pic>
      <p:sp>
        <p:nvSpPr>
          <p:cNvPr id="6" name="Text 3"/>
          <p:cNvSpPr/>
          <p:nvPr/>
        </p:nvSpPr>
        <p:spPr>
          <a:xfrm>
            <a:off x="822960" y="2651760"/>
            <a:ext cx="2971800" cy="411480"/>
          </a:xfrm>
          <a:prstGeom prst="rect">
            <a:avLst/>
          </a:prstGeom>
          <a:noFill/>
          <a:ln/>
        </p:spPr>
        <p:txBody>
          <a:bodyPr wrap="square" lIns="0" tIns="0" rIns="0" bIns="0" rtlCol="0" anchor="ctr"/>
          <a:lstStyle/>
          <a:p>
            <a:pPr indent="0" marL="0">
              <a:buNone/>
            </a:pPr>
            <a:r>
              <a:rPr lang="en-US" sz="1700" b="1" dirty="0">
                <a:solidFill>
                  <a:srgbClr val="132A46"/>
                </a:solidFill>
                <a:latin typeface="Calibri" pitchFamily="34" charset="0"/>
                <a:ea typeface="Calibri" pitchFamily="34" charset="-122"/>
                <a:cs typeface="Calibri" pitchFamily="34" charset="-120"/>
              </a:rPr>
              <a:t>Backend</a:t>
            </a:r>
            <a:endParaRPr lang="en-US" sz="1700" dirty="0"/>
          </a:p>
        </p:txBody>
      </p:sp>
      <p:sp>
        <p:nvSpPr>
          <p:cNvPr id="7" name="Text 4"/>
          <p:cNvSpPr/>
          <p:nvPr/>
        </p:nvSpPr>
        <p:spPr>
          <a:xfrm>
            <a:off x="822960" y="3154680"/>
            <a:ext cx="2971800" cy="237744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FastAPI · Pydantic v2</a:t>
            </a:r>
            <a:endParaRPr lang="en-US" sz="1250" dirty="0"/>
          </a:p>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SQLAlchemy 2.0 (async) · Alembic</a:t>
            </a:r>
            <a:endParaRPr lang="en-US" sz="1250" dirty="0"/>
          </a:p>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PostgreSQL 16 + pgvector</a:t>
            </a:r>
            <a:endParaRPr lang="en-US" sz="1250" dirty="0"/>
          </a:p>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Redis 7 + arq worker</a:t>
            </a:r>
            <a:endParaRPr lang="en-US" sz="1250" dirty="0"/>
          </a:p>
        </p:txBody>
      </p:sp>
      <p:sp>
        <p:nvSpPr>
          <p:cNvPr id="8" name="Shape 5"/>
          <p:cNvSpPr/>
          <p:nvPr/>
        </p:nvSpPr>
        <p:spPr>
          <a:xfrm>
            <a:off x="4297680" y="1600200"/>
            <a:ext cx="3520440" cy="4114800"/>
          </a:xfrm>
          <a:prstGeom prst="roundRect">
            <a:avLst>
              <a:gd name="adj" fmla="val 3117"/>
            </a:avLst>
          </a:prstGeom>
          <a:solidFill>
            <a:srgbClr val="F4F6F8"/>
          </a:solidFill>
          <a:ln/>
        </p:spPr>
      </p:sp>
      <p:sp>
        <p:nvSpPr>
          <p:cNvPr id="9" name="Shape 6"/>
          <p:cNvSpPr/>
          <p:nvPr/>
        </p:nvSpPr>
        <p:spPr>
          <a:xfrm>
            <a:off x="4572000" y="1874520"/>
            <a:ext cx="621792" cy="621792"/>
          </a:xfrm>
          <a:prstGeom prst="ellipse">
            <a:avLst/>
          </a:prstGeom>
          <a:solidFill>
            <a:srgbClr val="132A46"/>
          </a:solidFill>
          <a:ln/>
        </p:spPr>
      </p:sp>
      <p:pic>
        <p:nvPicPr>
          <p:cNvPr id="10" name="Image 1" descr="preencoded.png">    </p:cNvPr>
          <p:cNvPicPr>
            <a:picLocks noChangeAspect="1"/>
          </p:cNvPicPr>
          <p:nvPr/>
        </p:nvPicPr>
        <p:blipFill>
          <a:blip r:embed="rId2"/>
          <a:stretch>
            <a:fillRect/>
          </a:stretch>
        </p:blipFill>
        <p:spPr>
          <a:xfrm>
            <a:off x="4711903" y="2014423"/>
            <a:ext cx="341986" cy="341986"/>
          </a:xfrm>
          <a:prstGeom prst="rect">
            <a:avLst/>
          </a:prstGeom>
        </p:spPr>
      </p:pic>
      <p:sp>
        <p:nvSpPr>
          <p:cNvPr id="11" name="Text 7"/>
          <p:cNvSpPr/>
          <p:nvPr/>
        </p:nvSpPr>
        <p:spPr>
          <a:xfrm>
            <a:off x="4572000" y="2651760"/>
            <a:ext cx="2971800" cy="411480"/>
          </a:xfrm>
          <a:prstGeom prst="rect">
            <a:avLst/>
          </a:prstGeom>
          <a:noFill/>
          <a:ln/>
        </p:spPr>
        <p:txBody>
          <a:bodyPr wrap="square" lIns="0" tIns="0" rIns="0" bIns="0" rtlCol="0" anchor="ctr"/>
          <a:lstStyle/>
          <a:p>
            <a:pPr indent="0" marL="0">
              <a:buNone/>
            </a:pPr>
            <a:r>
              <a:rPr lang="en-US" sz="1700" b="1" dirty="0">
                <a:solidFill>
                  <a:srgbClr val="132A46"/>
                </a:solidFill>
                <a:latin typeface="Calibri" pitchFamily="34" charset="0"/>
                <a:ea typeface="Calibri" pitchFamily="34" charset="-122"/>
                <a:cs typeface="Calibri" pitchFamily="34" charset="-120"/>
              </a:rPr>
              <a:t>Frontend</a:t>
            </a:r>
            <a:endParaRPr lang="en-US" sz="1700" dirty="0"/>
          </a:p>
        </p:txBody>
      </p:sp>
      <p:sp>
        <p:nvSpPr>
          <p:cNvPr id="12" name="Text 8"/>
          <p:cNvSpPr/>
          <p:nvPr/>
        </p:nvSpPr>
        <p:spPr>
          <a:xfrm>
            <a:off x="4572000" y="3154680"/>
            <a:ext cx="2971800" cy="237744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React 18 · TypeScript</a:t>
            </a:r>
            <a:endParaRPr lang="en-US" sz="1250" dirty="0"/>
          </a:p>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Vite</a:t>
            </a:r>
            <a:endParaRPr lang="en-US" sz="1250" dirty="0"/>
          </a:p>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Tailwind CSS</a:t>
            </a:r>
            <a:endParaRPr lang="en-US" sz="1250" dirty="0"/>
          </a:p>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Full English/Arabic i18n</a:t>
            </a:r>
            <a:endParaRPr lang="en-US" sz="1250" dirty="0"/>
          </a:p>
        </p:txBody>
      </p:sp>
      <p:sp>
        <p:nvSpPr>
          <p:cNvPr id="13" name="Shape 9"/>
          <p:cNvSpPr/>
          <p:nvPr/>
        </p:nvSpPr>
        <p:spPr>
          <a:xfrm>
            <a:off x="8046720" y="1600200"/>
            <a:ext cx="3520440" cy="4114800"/>
          </a:xfrm>
          <a:prstGeom prst="roundRect">
            <a:avLst>
              <a:gd name="adj" fmla="val 3117"/>
            </a:avLst>
          </a:prstGeom>
          <a:solidFill>
            <a:srgbClr val="F4F6F8"/>
          </a:solidFill>
          <a:ln/>
        </p:spPr>
      </p:sp>
      <p:sp>
        <p:nvSpPr>
          <p:cNvPr id="14" name="Shape 10"/>
          <p:cNvSpPr/>
          <p:nvPr/>
        </p:nvSpPr>
        <p:spPr>
          <a:xfrm>
            <a:off x="8321040" y="1874520"/>
            <a:ext cx="621792" cy="621792"/>
          </a:xfrm>
          <a:prstGeom prst="ellipse">
            <a:avLst/>
          </a:prstGeom>
          <a:solidFill>
            <a:srgbClr val="E8622C"/>
          </a:solidFill>
          <a:ln/>
        </p:spPr>
      </p:sp>
      <p:pic>
        <p:nvPicPr>
          <p:cNvPr id="15" name="Image 2" descr="preencoded.png">    </p:cNvPr>
          <p:cNvPicPr>
            <a:picLocks noChangeAspect="1"/>
          </p:cNvPicPr>
          <p:nvPr/>
        </p:nvPicPr>
        <p:blipFill>
          <a:blip r:embed="rId3"/>
          <a:stretch>
            <a:fillRect/>
          </a:stretch>
        </p:blipFill>
        <p:spPr>
          <a:xfrm>
            <a:off x="8460943" y="2014423"/>
            <a:ext cx="341986" cy="341986"/>
          </a:xfrm>
          <a:prstGeom prst="rect">
            <a:avLst/>
          </a:prstGeom>
        </p:spPr>
      </p:pic>
      <p:sp>
        <p:nvSpPr>
          <p:cNvPr id="16" name="Text 11"/>
          <p:cNvSpPr/>
          <p:nvPr/>
        </p:nvSpPr>
        <p:spPr>
          <a:xfrm>
            <a:off x="8321040" y="2651760"/>
            <a:ext cx="2971800" cy="411480"/>
          </a:xfrm>
          <a:prstGeom prst="rect">
            <a:avLst/>
          </a:prstGeom>
          <a:noFill/>
          <a:ln/>
        </p:spPr>
        <p:txBody>
          <a:bodyPr wrap="square" lIns="0" tIns="0" rIns="0" bIns="0" rtlCol="0" anchor="ctr"/>
          <a:lstStyle/>
          <a:p>
            <a:pPr indent="0" marL="0">
              <a:buNone/>
            </a:pPr>
            <a:r>
              <a:rPr lang="en-US" sz="1700" b="1" dirty="0">
                <a:solidFill>
                  <a:srgbClr val="132A46"/>
                </a:solidFill>
                <a:latin typeface="Calibri" pitchFamily="34" charset="0"/>
                <a:ea typeface="Calibri" pitchFamily="34" charset="-122"/>
                <a:cs typeface="Calibri" pitchFamily="34" charset="-120"/>
              </a:rPr>
              <a:t>AI Layer</a:t>
            </a:r>
            <a:endParaRPr lang="en-US" sz="1700" dirty="0"/>
          </a:p>
        </p:txBody>
      </p:sp>
      <p:sp>
        <p:nvSpPr>
          <p:cNvPr id="17" name="Text 12"/>
          <p:cNvSpPr/>
          <p:nvPr/>
        </p:nvSpPr>
        <p:spPr>
          <a:xfrm>
            <a:off x="8321040" y="3154680"/>
            <a:ext cx="2971800" cy="237744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Hand-written agent core — no framework</a:t>
            </a:r>
            <a:endParaRPr lang="en-US" sz="1250" dirty="0"/>
          </a:p>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Provider-agnostic LLM client</a:t>
            </a:r>
            <a:endParaRPr lang="en-US" sz="1250" dirty="0"/>
          </a:p>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Hybrid RAG: pgvector + full-text, fused by RRF</a:t>
            </a:r>
            <a:endParaRPr lang="en-US" sz="1250" dirty="0"/>
          </a:p>
          <a:p>
            <a:pPr marL="342900" indent="-342900">
              <a:lnSpc>
                <a:spcPct val="125000"/>
              </a:lnSpc>
              <a:spcAft>
                <a:spcPts val="1000"/>
              </a:spcAft>
              <a:buSzPct val="100000"/>
              <a:buChar char="•"/>
            </a:pPr>
            <a:r>
              <a:rPr lang="en-US" sz="1250" dirty="0">
                <a:solidFill>
                  <a:srgbClr val="5B6B79"/>
                </a:solidFill>
                <a:latin typeface="Calibri" pitchFamily="34" charset="0"/>
                <a:ea typeface="Calibri" pitchFamily="34" charset="-122"/>
                <a:cs typeface="Calibri" pitchFamily="34" charset="-120"/>
              </a:rPr>
              <a:t>Gemini, Groq, OpenAI, or local — one env variable</a:t>
            </a:r>
            <a:endParaRPr lang="en-US" sz="1250" dirty="0"/>
          </a:p>
        </p:txBody>
      </p:sp>
      <p:sp>
        <p:nvSpPr>
          <p:cNvPr id="18"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97A3"/>
                </a:solidFill>
                <a:latin typeface="Calibri" pitchFamily="34" charset="0"/>
                <a:ea typeface="Calibri" pitchFamily="34" charset="-122"/>
                <a:cs typeface="Calibri" pitchFamily="34" charset="-120"/>
              </a:rPr>
              <a:t>Construction Operations Intelligence Platform</a:t>
            </a:r>
            <a:endParaRPr lang="en-US" sz="900" dirty="0"/>
          </a:p>
        </p:txBody>
      </p:sp>
      <p:sp>
        <p:nvSpPr>
          <p:cNvPr id="19" name="Text 1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E33"/>
        </a:solidFill>
      </p:bgPr>
    </p:bg>
    <p:spTree>
      <p:nvGrpSpPr>
        <p:cNvPr id="1" name=""/>
        <p:cNvGrpSpPr/>
        <p:nvPr/>
      </p:nvGrpSpPr>
      <p:grpSpPr>
        <a:xfrm>
          <a:off x="0" y="0"/>
          <a:ext cx="0" cy="0"/>
          <a:chOff x="0" y="0"/>
          <a:chExt cx="0" cy="0"/>
        </a:xfrm>
      </p:grpSpPr>
      <p:sp>
        <p:nvSpPr>
          <p:cNvPr id="2" name="Shape 0"/>
          <p:cNvSpPr/>
          <p:nvPr/>
        </p:nvSpPr>
        <p:spPr>
          <a:xfrm>
            <a:off x="1523962" y="0"/>
            <a:ext cx="0" cy="6858000"/>
          </a:xfrm>
          <a:prstGeom prst="line">
            <a:avLst/>
          </a:prstGeom>
          <a:noFill/>
          <a:ln w="6350">
            <a:solidFill>
              <a:srgbClr val="1B3554"/>
            </a:solidFill>
            <a:prstDash val="solid"/>
          </a:ln>
        </p:spPr>
      </p:sp>
      <p:sp>
        <p:nvSpPr>
          <p:cNvPr id="3" name="Shape 1"/>
          <p:cNvSpPr/>
          <p:nvPr/>
        </p:nvSpPr>
        <p:spPr>
          <a:xfrm>
            <a:off x="3047924" y="0"/>
            <a:ext cx="0" cy="6858000"/>
          </a:xfrm>
          <a:prstGeom prst="line">
            <a:avLst/>
          </a:prstGeom>
          <a:noFill/>
          <a:ln w="6350">
            <a:solidFill>
              <a:srgbClr val="1B3554"/>
            </a:solidFill>
            <a:prstDash val="solid"/>
          </a:ln>
        </p:spPr>
      </p:sp>
      <p:sp>
        <p:nvSpPr>
          <p:cNvPr id="4" name="Shape 2"/>
          <p:cNvSpPr/>
          <p:nvPr/>
        </p:nvSpPr>
        <p:spPr>
          <a:xfrm>
            <a:off x="4571886" y="0"/>
            <a:ext cx="0" cy="6858000"/>
          </a:xfrm>
          <a:prstGeom prst="line">
            <a:avLst/>
          </a:prstGeom>
          <a:noFill/>
          <a:ln w="6350">
            <a:solidFill>
              <a:srgbClr val="1B3554"/>
            </a:solidFill>
            <a:prstDash val="solid"/>
          </a:ln>
        </p:spPr>
      </p:sp>
      <p:sp>
        <p:nvSpPr>
          <p:cNvPr id="5" name="Shape 3"/>
          <p:cNvSpPr/>
          <p:nvPr/>
        </p:nvSpPr>
        <p:spPr>
          <a:xfrm>
            <a:off x="6095848" y="0"/>
            <a:ext cx="0" cy="6858000"/>
          </a:xfrm>
          <a:prstGeom prst="line">
            <a:avLst/>
          </a:prstGeom>
          <a:noFill/>
          <a:ln w="6350">
            <a:solidFill>
              <a:srgbClr val="1B3554"/>
            </a:solidFill>
            <a:prstDash val="solid"/>
          </a:ln>
        </p:spPr>
      </p:sp>
      <p:sp>
        <p:nvSpPr>
          <p:cNvPr id="6" name="Shape 4"/>
          <p:cNvSpPr/>
          <p:nvPr/>
        </p:nvSpPr>
        <p:spPr>
          <a:xfrm>
            <a:off x="7619810" y="0"/>
            <a:ext cx="0" cy="6858000"/>
          </a:xfrm>
          <a:prstGeom prst="line">
            <a:avLst/>
          </a:prstGeom>
          <a:noFill/>
          <a:ln w="6350">
            <a:solidFill>
              <a:srgbClr val="1B3554"/>
            </a:solidFill>
            <a:prstDash val="solid"/>
          </a:ln>
        </p:spPr>
      </p:sp>
      <p:sp>
        <p:nvSpPr>
          <p:cNvPr id="7" name="Shape 5"/>
          <p:cNvSpPr/>
          <p:nvPr/>
        </p:nvSpPr>
        <p:spPr>
          <a:xfrm>
            <a:off x="9143771" y="0"/>
            <a:ext cx="0" cy="6858000"/>
          </a:xfrm>
          <a:prstGeom prst="line">
            <a:avLst/>
          </a:prstGeom>
          <a:noFill/>
          <a:ln w="6350">
            <a:solidFill>
              <a:srgbClr val="1B3554"/>
            </a:solidFill>
            <a:prstDash val="solid"/>
          </a:ln>
        </p:spPr>
      </p:sp>
      <p:sp>
        <p:nvSpPr>
          <p:cNvPr id="8" name="Shape 6"/>
          <p:cNvSpPr/>
          <p:nvPr/>
        </p:nvSpPr>
        <p:spPr>
          <a:xfrm>
            <a:off x="10667733" y="0"/>
            <a:ext cx="0" cy="6858000"/>
          </a:xfrm>
          <a:prstGeom prst="line">
            <a:avLst/>
          </a:prstGeom>
          <a:noFill/>
          <a:ln w="6350">
            <a:solidFill>
              <a:srgbClr val="1B3554"/>
            </a:solidFill>
            <a:prstDash val="solid"/>
          </a:ln>
        </p:spPr>
      </p:sp>
      <p:sp>
        <p:nvSpPr>
          <p:cNvPr id="9" name="Text 7"/>
          <p:cNvSpPr/>
          <p:nvPr/>
        </p:nvSpPr>
        <p:spPr>
          <a:xfrm>
            <a:off x="548640" y="1554480"/>
            <a:ext cx="9144000" cy="8686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Explore the project</a:t>
            </a:r>
            <a:endParaRPr lang="en-US" sz="4000" dirty="0"/>
          </a:p>
        </p:txBody>
      </p:sp>
      <p:sp>
        <p:nvSpPr>
          <p:cNvPr id="10" name="Text 8"/>
          <p:cNvSpPr/>
          <p:nvPr/>
        </p:nvSpPr>
        <p:spPr>
          <a:xfrm>
            <a:off x="548640" y="2514600"/>
            <a:ext cx="8412480" cy="640080"/>
          </a:xfrm>
          <a:prstGeom prst="rect">
            <a:avLst/>
          </a:prstGeom>
          <a:noFill/>
          <a:ln/>
        </p:spPr>
        <p:txBody>
          <a:bodyPr wrap="square" lIns="0" tIns="0" rIns="0" bIns="0" rtlCol="0" anchor="ctr"/>
          <a:lstStyle/>
          <a:p>
            <a:pPr indent="0" marL="0">
              <a:lnSpc>
                <a:spcPct val="130000"/>
              </a:lnSpc>
              <a:buNone/>
            </a:pPr>
            <a:r>
              <a:rPr lang="en-US" sz="1600" dirty="0">
                <a:solidFill>
                  <a:srgbClr val="C7D2DE"/>
                </a:solidFill>
                <a:latin typeface="Calibri" pitchFamily="34" charset="0"/>
                <a:ea typeface="Calibri" pitchFamily="34" charset="-122"/>
                <a:cs typeface="Calibri" pitchFamily="34" charset="-120"/>
              </a:rPr>
              <a:t>A production-shaped platform for construction operations — designed to be run, not just demonstrated.</a:t>
            </a:r>
            <a:endParaRPr lang="en-US" sz="1600" dirty="0"/>
          </a:p>
        </p:txBody>
      </p:sp>
      <p:sp>
        <p:nvSpPr>
          <p:cNvPr id="11" name="Shape 9"/>
          <p:cNvSpPr/>
          <p:nvPr/>
        </p:nvSpPr>
        <p:spPr>
          <a:xfrm>
            <a:off x="548640" y="3749040"/>
            <a:ext cx="502920" cy="502920"/>
          </a:xfrm>
          <a:prstGeom prst="ellipse">
            <a:avLst/>
          </a:prstGeom>
          <a:solidFill>
            <a:srgbClr val="E8622C"/>
          </a:solidFill>
          <a:ln/>
        </p:spPr>
      </p:sp>
      <p:pic>
        <p:nvPicPr>
          <p:cNvPr id="12" name="Image 0" descr="preencoded.png">    </p:cNvPr>
          <p:cNvPicPr>
            <a:picLocks noChangeAspect="1"/>
          </p:cNvPicPr>
          <p:nvPr/>
        </p:nvPicPr>
        <p:blipFill>
          <a:blip r:embed="rId1"/>
          <a:stretch>
            <a:fillRect/>
          </a:stretch>
        </p:blipFill>
        <p:spPr>
          <a:xfrm>
            <a:off x="661797" y="3862197"/>
            <a:ext cx="276606" cy="276606"/>
          </a:xfrm>
          <a:prstGeom prst="rect">
            <a:avLst/>
          </a:prstGeom>
        </p:spPr>
      </p:pic>
      <p:sp>
        <p:nvSpPr>
          <p:cNvPr id="13" name="Text 10"/>
          <p:cNvSpPr/>
          <p:nvPr/>
        </p:nvSpPr>
        <p:spPr>
          <a:xfrm>
            <a:off x="1234440" y="3749040"/>
            <a:ext cx="731520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github.com/saudrawdhan/construction-ai-platform</a:t>
            </a:r>
            <a:endParaRPr lang="en-US" sz="1500" dirty="0"/>
          </a:p>
        </p:txBody>
      </p:sp>
      <p:sp>
        <p:nvSpPr>
          <p:cNvPr id="14" name="Shape 11"/>
          <p:cNvSpPr/>
          <p:nvPr/>
        </p:nvSpPr>
        <p:spPr>
          <a:xfrm>
            <a:off x="548640" y="4434840"/>
            <a:ext cx="502920" cy="502920"/>
          </a:xfrm>
          <a:prstGeom prst="ellipse">
            <a:avLst/>
          </a:prstGeom>
          <a:solidFill>
            <a:srgbClr val="E8622C"/>
          </a:solidFill>
          <a:ln/>
        </p:spPr>
      </p:sp>
      <p:pic>
        <p:nvPicPr>
          <p:cNvPr id="15" name="Image 1" descr="preencoded.png">    </p:cNvPr>
          <p:cNvPicPr>
            <a:picLocks noChangeAspect="1"/>
          </p:cNvPicPr>
          <p:nvPr/>
        </p:nvPicPr>
        <p:blipFill>
          <a:blip r:embed="rId2"/>
          <a:stretch>
            <a:fillRect/>
          </a:stretch>
        </p:blipFill>
        <p:spPr>
          <a:xfrm>
            <a:off x="661797" y="4547997"/>
            <a:ext cx="276606" cy="276606"/>
          </a:xfrm>
          <a:prstGeom prst="rect">
            <a:avLst/>
          </a:prstGeom>
        </p:spPr>
      </p:pic>
      <p:sp>
        <p:nvSpPr>
          <p:cNvPr id="16" name="Text 12"/>
          <p:cNvSpPr/>
          <p:nvPr/>
        </p:nvSpPr>
        <p:spPr>
          <a:xfrm>
            <a:off x="1234440" y="4434840"/>
            <a:ext cx="731520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linkedin.com/in/saud-rawdhan</a:t>
            </a:r>
            <a:endParaRPr lang="en-US" sz="1500" dirty="0"/>
          </a:p>
        </p:txBody>
      </p:sp>
      <p:sp>
        <p:nvSpPr>
          <p:cNvPr id="17" name="Text 13"/>
          <p:cNvSpPr/>
          <p:nvPr/>
        </p:nvSpPr>
        <p:spPr>
          <a:xfrm>
            <a:off x="548640" y="6080760"/>
            <a:ext cx="5486400" cy="36576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Saud Rawdhan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2026-09-05T03:23:06Z</dcterms:created>
  <dcterms:modified xsi:type="dcterms:W3CDTF">2026-09-05T03:23:06Z</dcterms:modified>
</cp:coreProperties>
</file>