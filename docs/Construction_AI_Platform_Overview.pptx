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3962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924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1886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19810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3771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67733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34440"/>
            <a:ext cx="822960" cy="822960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1415491"/>
            <a:ext cx="460858" cy="46085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2331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48640" y="27889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Platform</a:t>
            </a:r>
            <a:endParaRPr lang="en-US" sz="5400" dirty="0"/>
          </a:p>
        </p:txBody>
      </p:sp>
      <p:sp>
        <p:nvSpPr>
          <p:cNvPr id="13" name="Text 10"/>
          <p:cNvSpPr/>
          <p:nvPr/>
        </p:nvSpPr>
        <p:spPr>
          <a:xfrm>
            <a:off x="548640" y="39776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operations platform for construction companies — built to run a real portfolio, not just demonstrate one.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Saud Rawdhan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runs on documents nobody reads twice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minutes, site reports, purchase requests, RFIs, and claims pile up across every project. Decisions get made, forgotten, and re-litigated. A supplier's poor delivery history sits invisible in a spreadsheet until a project is already late. When a claim goes to arbitration, nobody can quickly assemble the change orders and decisions that support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missing data.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that the data does not talk to itself.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16916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1F2937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82712" y="1856232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5582" y="1959102"/>
            <a:ext cx="251460" cy="2514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67928" y="16916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0" y="26060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1F2937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394192" y="2770632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7062" y="287350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979408" y="26060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reports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818120" y="35204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1F2937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82712" y="3685032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582" y="3787902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67928" y="3520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requests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275320" y="44348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1F2937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439912" y="4599432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782" y="4702302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25128" y="4434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RFIs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955280" y="53492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1F2937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119872" y="5513832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742" y="5616702"/>
            <a:ext cx="251460" cy="25146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05088" y="53492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that turns paperwork into decisions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ingests real project data, keeps an organizational memory of what was decided and why, runs AI workflows over the operational record, and answers management's questions — every AI answer traced back to the records it came from, every high-risk action held behind human approval.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48640" y="297180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5" name="Shape 3"/>
          <p:cNvSpPr/>
          <p:nvPr/>
        </p:nvSpPr>
        <p:spPr>
          <a:xfrm>
            <a:off x="1485900" y="3291840"/>
            <a:ext cx="731520" cy="73152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34564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4206240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Record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project, RFI, claim, and change order queryable in one place.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0712" y="297180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0" name="Shape 7"/>
          <p:cNvSpPr/>
          <p:nvPr/>
        </p:nvSpPr>
        <p:spPr>
          <a:xfrm>
            <a:off x="4347972" y="3291840"/>
            <a:ext cx="731520" cy="731520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345643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75304" y="4206240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611880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workflows that read the record and produce a decision-ready output.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72784" y="297180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5" name="Shape 11"/>
          <p:cNvSpPr/>
          <p:nvPr/>
        </p:nvSpPr>
        <p:spPr>
          <a:xfrm>
            <a:off x="7210044" y="3291840"/>
            <a:ext cx="731520" cy="73152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636" y="345643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7376" y="4206240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Memory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73952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searchable memory of decisions and risk that grows on its own.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134856" y="297180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72116" y="3291840"/>
            <a:ext cx="731520" cy="73152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6708" y="345643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99448" y="4206240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9336024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access, a full audit trail, and human approval on risk.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modules, one shared operational record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project team touches lives in the same system — queryable, filterable, and connected across modules, not siloed spreadsheets.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382012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2513686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2037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63040" y="2624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Portfolio, budgets, milestones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20574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10" name="Shape 7"/>
          <p:cNvSpPr/>
          <p:nvPr/>
        </p:nvSpPr>
        <p:spPr>
          <a:xfrm>
            <a:off x="4480560" y="2382012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234" y="2513686"/>
            <a:ext cx="321869" cy="3218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22037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212080" y="2624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orders, suppliers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46720" y="20574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0" y="2382012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4" y="2513686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61120" y="22037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RFIs &amp; Change Orders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961120" y="2624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Cause, cost, and schedule impact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493008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3817620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4" y="3949294"/>
            <a:ext cx="321869" cy="3218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3639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63040" y="405993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chains, import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97680" y="3493008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480560" y="3817620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234" y="3949294"/>
            <a:ext cx="321869" cy="32186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12080" y="3639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212080" y="405993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actions, decisions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46720" y="3493008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30" name="Shape 23"/>
          <p:cNvSpPr/>
          <p:nvPr/>
        </p:nvSpPr>
        <p:spPr>
          <a:xfrm>
            <a:off x="8229600" y="3817620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1274" y="3949294"/>
            <a:ext cx="321869" cy="32186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61120" y="3639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Reports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961120" y="405993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progress and delays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548640" y="4928616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35" name="Shape 27"/>
          <p:cNvSpPr/>
          <p:nvPr/>
        </p:nvSpPr>
        <p:spPr>
          <a:xfrm>
            <a:off x="731520" y="5253228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194" y="5384902"/>
            <a:ext cx="321869" cy="321869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463040" y="5074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1463040" y="54955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Ingested, chunked, searchable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297680" y="4928616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40" name="Shape 31"/>
          <p:cNvSpPr/>
          <p:nvPr/>
        </p:nvSpPr>
        <p:spPr>
          <a:xfrm>
            <a:off x="4480560" y="5253228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2234" y="5384902"/>
            <a:ext cx="321869" cy="321869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212080" y="5074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350" dirty="0"/>
          </a:p>
        </p:txBody>
      </p:sp>
      <p:sp>
        <p:nvSpPr>
          <p:cNvPr id="43" name="Text 33"/>
          <p:cNvSpPr/>
          <p:nvPr/>
        </p:nvSpPr>
        <p:spPr>
          <a:xfrm>
            <a:off x="5212080" y="54955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Q&amp;A over the record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8046720" y="4928616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4F6F8"/>
          </a:solidFill>
          <a:ln/>
        </p:spPr>
      </p:sp>
      <p:sp>
        <p:nvSpPr>
          <p:cNvPr id="45" name="Shape 35"/>
          <p:cNvSpPr/>
          <p:nvPr/>
        </p:nvSpPr>
        <p:spPr>
          <a:xfrm>
            <a:off x="8229600" y="5253228"/>
            <a:ext cx="585216" cy="585216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1274" y="5384902"/>
            <a:ext cx="321869" cy="321869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8961120" y="5074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1350" dirty="0"/>
          </a:p>
        </p:txBody>
      </p:sp>
      <p:sp>
        <p:nvSpPr>
          <p:cNvPr id="48" name="Text 37"/>
          <p:cNvSpPr/>
          <p:nvPr/>
        </p:nvSpPr>
        <p:spPr>
          <a:xfrm>
            <a:off x="8961120" y="54955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and full audit log</a:t>
            </a:r>
            <a:endParaRPr lang="en-US" sz="1100" dirty="0"/>
          </a:p>
        </p:txBody>
      </p:sp>
      <p:sp>
        <p:nvSpPr>
          <p:cNvPr id="49" name="Text 3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50" name="Text 3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AI workflows, each grounded in real computation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1636319"/>
            <a:ext cx="311810" cy="3118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880" y="1463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Request Review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325880" y="184708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missing information and risk, weighted by the supplier's real delivery history.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3053639"/>
            <a:ext cx="311810" cy="3118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8803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Risk Assessment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325880" y="326440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 supplier from on-time rate, non-conformances, and delay patterns.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434340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4470959"/>
            <a:ext cx="311810" cy="31181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4297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 Escalation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325880" y="468172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overdue RFIs and drafts a suggested action for each.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46520" y="150876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079" y="1636319"/>
            <a:ext cx="311810" cy="31181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23760" y="1463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Summary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7223760" y="184708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action items, decisions, and risks from raw minutes.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446520" y="292608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079" y="3053639"/>
            <a:ext cx="311810" cy="3118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223760" y="28803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Report Analysis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7223760" y="326440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delays, risks, and an escalation recommendation from a field report.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446520" y="434340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079" y="4470959"/>
            <a:ext cx="311810" cy="31181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23760" y="4297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Weekly Report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7223760" y="468172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portfolio KPIs into a written executive narrative.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memory that grows on its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760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reads from and writes to a searchable memory of decisions, risks, lessons learned, and supplier performance — each record carrying the source it came from. A memory-extraction agent turns free text into categorized, confidence-scored memories without anyone filing a report.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is informed by every past finding — and adds to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160020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079" y="1727759"/>
            <a:ext cx="311810" cy="3118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339328" y="1554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text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(minutes, reports, documents)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72984" y="2167128"/>
            <a:ext cx="0" cy="484632"/>
          </a:xfrm>
          <a:prstGeom prst="line">
            <a:avLst/>
          </a:prstGeom>
          <a:noFill/>
          <a:ln w="15875">
            <a:solidFill>
              <a:srgbClr val="8A97A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7589520" y="265176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079" y="2779319"/>
            <a:ext cx="311810" cy="3118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339328" y="2606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Memory-extraction agent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72984" y="3218688"/>
            <a:ext cx="0" cy="484632"/>
          </a:xfrm>
          <a:prstGeom prst="line">
            <a:avLst/>
          </a:prstGeom>
          <a:noFill/>
          <a:ln w="15875">
            <a:solidFill>
              <a:srgbClr val="8A97A3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>
            <a:off x="7589520" y="370332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079" y="3830879"/>
            <a:ext cx="311810" cy="31181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39328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Categorized, confidence-scored memory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872984" y="4270248"/>
            <a:ext cx="0" cy="484632"/>
          </a:xfrm>
          <a:prstGeom prst="line">
            <a:avLst/>
          </a:prstGeom>
          <a:noFill/>
          <a:ln w="15875">
            <a:solidFill>
              <a:srgbClr val="8A97A3"/>
            </a:solidFill>
            <a:prstDash val="dash"/>
          </a:ln>
        </p:spPr>
      </p:sp>
      <p:sp>
        <p:nvSpPr>
          <p:cNvPr id="17" name="Shape 12"/>
          <p:cNvSpPr/>
          <p:nvPr/>
        </p:nvSpPr>
        <p:spPr>
          <a:xfrm>
            <a:off x="7589520" y="475488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079" y="4882439"/>
            <a:ext cx="311810" cy="31181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39328" y="4709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by every future workflow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copilot that refuses to guess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943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copilot answers management's questions from the project's own records — risks, issues, decisions, milestones — and cites every source it used. Ask about a named project and retrieval is scoped to it, so one project's records are never presented as another's. When there is no evidence, it says so instead of inventing an answer.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00200" y="44074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without a cited source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1663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600200" y="527608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— replies in the language asked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40880" y="1508760"/>
            <a:ext cx="4617720" cy="4434840"/>
          </a:xfrm>
          <a:prstGeom prst="roundRect">
            <a:avLst>
              <a:gd name="adj" fmla="val 2474"/>
            </a:avLst>
          </a:prstGeom>
          <a:solidFill>
            <a:srgbClr val="132A46"/>
          </a:solidFill>
          <a:ln/>
        </p:spPr>
      </p:sp>
      <p:sp>
        <p:nvSpPr>
          <p:cNvPr id="9" name="Text 7"/>
          <p:cNvSpPr/>
          <p:nvPr/>
        </p:nvSpPr>
        <p:spPr>
          <a:xfrm>
            <a:off x="7360920" y="17830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60920" y="2240280"/>
            <a:ext cx="3794760" cy="548640"/>
          </a:xfrm>
          <a:prstGeom prst="roundRect">
            <a:avLst>
              <a:gd name="adj" fmla="val 16667"/>
            </a:avLst>
          </a:prstGeom>
          <a:solidFill>
            <a:srgbClr val="1E3A5C"/>
          </a:solidFill>
          <a:ln/>
        </p:spPr>
      </p:sp>
      <p:sp>
        <p:nvSpPr>
          <p:cNvPr id="11" name="Text 9"/>
          <p:cNvSpPr/>
          <p:nvPr/>
        </p:nvSpPr>
        <p:spPr>
          <a:xfrm>
            <a:off x="7543800" y="22402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are the risks on Riyadh Hospital Project 3?"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60920" y="3017520"/>
            <a:ext cx="3977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open risks found, ranked by severity: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Dewatering pump capacity below inflow rate — High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Rebar submittal delay for Level 3 slab — High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access restricted after 6pm — Medium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60920" y="4709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0D1E33"/>
          </a:solidFill>
          <a:ln w="12700">
            <a:solidFill>
              <a:srgbClr val="E862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4818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543800" y="5120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PRJ-0003 — Riyadh Hospital Project 3  (6 risk records)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plans, acts, and remembers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goal in plain language, the agent chains the right tool calls — across all six workflows plus direct lookups — and returns a grounded answer with its full reasoning trail. It turns a solved task into a reusable skill, and every tool carries the same role restriction as its underlying API, even when a skill is replayed by someone else.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3291840"/>
            <a:ext cx="621792" cy="621792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" y="3431743"/>
            <a:ext cx="341986" cy="3419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411480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acts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tool calls across workflows and direct lookups to reach a goal.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10712" y="30175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0" name="Shape 7"/>
          <p:cNvSpPr/>
          <p:nvPr/>
        </p:nvSpPr>
        <p:spPr>
          <a:xfrm>
            <a:off x="3666744" y="3291840"/>
            <a:ext cx="621792" cy="621792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647" y="3431743"/>
            <a:ext cx="341986" cy="3419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11880" y="411480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skills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611880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solved task as a named, parameterized skill and reuses it on similar goals.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2784" y="30175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5" name="Shape 11"/>
          <p:cNvSpPr/>
          <p:nvPr/>
        </p:nvSpPr>
        <p:spPr>
          <a:xfrm>
            <a:off x="6528816" y="3291840"/>
            <a:ext cx="621792" cy="621792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719" y="3431743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73952" y="411480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everywhere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473952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enforces the same RBAC as its direct API — no bypass through the agent.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134856" y="30175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20" name="Shape 15"/>
          <p:cNvSpPr/>
          <p:nvPr/>
        </p:nvSpPr>
        <p:spPr>
          <a:xfrm>
            <a:off x="9390888" y="3291840"/>
            <a:ext cx="621792" cy="621792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0791" y="3431743"/>
            <a:ext cx="341986" cy="3419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36024" y="411480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Poison-resistant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336024" y="470916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retrieved content as data, never instructions — flags embedded overrides before they reach the model.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by design, not by policy document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1636319"/>
            <a:ext cx="311810" cy="3118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880" y="1463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325880" y="184708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with a non-default secret required outside development.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3053639"/>
            <a:ext cx="311810" cy="3118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8803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Seven-role RBAC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325880" y="326440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and every agent tool checks the same role gate.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4343400"/>
            <a:ext cx="566928" cy="566928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4470959"/>
            <a:ext cx="311810" cy="31181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4297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on every AI call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325880" y="468172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asked, what ran, and what it returned — always recorded.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46520" y="150876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079" y="1636319"/>
            <a:ext cx="311810" cy="31181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23760" y="1463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on risk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7223760" y="184708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become an approval request; the AI never executes alone.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446520" y="292608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079" y="3053639"/>
            <a:ext cx="311810" cy="3118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223760" y="28803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move work forward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7223760" y="326440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request changes the record it decided, not just a log entry.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446520" y="434340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079" y="4470959"/>
            <a:ext cx="311810" cy="31181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23760" y="4297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Concurrency-safe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7223760" y="468172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simultaneous approvals on one request — exactly one ever wins.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computed, not generated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a decision depends on — a supplier's on-time rate, portfolio KPIs, an overdue count — is computed in code from the database. The language model is used only for what it is actually good at: reading unstructured text and writing prose. It is never asked to restate a number on its own.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132A46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383280"/>
            <a:ext cx="594360" cy="594360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411" y="351701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34290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code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41148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rates, KPI totals, overdue counts, risk scores — arithmetic run directly against the database, byte-exact against the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306324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4F6F8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3383280"/>
            <a:ext cx="594360" cy="59436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691" y="3517011"/>
            <a:ext cx="326898" cy="3268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34290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the model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37960" y="41148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free text, judging severity, and writing the narrative — the parts language understanding is actually suited for.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bilingual, tested like production software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Arabic and English — including the AI's own writing, not just the interface. Every workflow and the copilot answer in the language of the request.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32A4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48716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3383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28600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/>
          <p:nvPr/>
        </p:nvSpPr>
        <p:spPr>
          <a:xfrm>
            <a:off x="3410712" y="248716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47872" y="3383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28600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32A46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248716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9944" y="3383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modules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28600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/>
          <p:nvPr/>
        </p:nvSpPr>
        <p:spPr>
          <a:xfrm>
            <a:off x="9134856" y="248716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272016" y="3383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roles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4562399"/>
            <a:ext cx="311810" cy="31181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25880" y="4389120"/>
            <a:ext cx="10317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runs right-to-left throughout the interface, and AI-generated reports, reviews, and summaries are written natively in the language of the request — not machine-translated afterward.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5532120"/>
            <a:ext cx="11094415" cy="0"/>
          </a:xfrm>
          <a:prstGeom prst="line">
            <a:avLst/>
          </a:prstGeom>
          <a:noFill/>
          <a:ln w="12700">
            <a:solidFill>
              <a:srgbClr val="E2E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" y="5669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runs lint, typecheck, build, and translation-parity checks on every change.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modern, typed, async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4F6F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621792" cy="621792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" y="2014423"/>
            <a:ext cx="341986" cy="3419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Pydantic v2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2.0 (async) · Alembic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pgvector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 + arq worker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4F6F8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0" y="1874520"/>
            <a:ext cx="621792" cy="621792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903" y="2014423"/>
            <a:ext cx="341986" cy="34198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0" y="2651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572000" y="315468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English/Arabic i18n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4F6F8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1040" y="1874520"/>
            <a:ext cx="621792" cy="621792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0943" y="2014423"/>
            <a:ext cx="341986" cy="34198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21040" y="26517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321040" y="315468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agent core — no framework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LLM client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RAG: pgvector + full-text, fused by RRF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Local, Groq, or Gemini — one env variable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Operations Intelligence Platform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3962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924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1886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19810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3771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67733" y="0"/>
            <a:ext cx="0" cy="6858000"/>
          </a:xfrm>
          <a:prstGeom prst="line">
            <a:avLst/>
          </a:prstGeom>
          <a:noFill/>
          <a:ln w="6350">
            <a:solidFill>
              <a:srgbClr val="1B35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production-shaped platform for construction operations — designed to be run, not just demonstrated.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3862197"/>
            <a:ext cx="276606" cy="27660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34440" y="3749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github.com/saudrawdhan/construction-ai-platform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E8622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97" y="4547997"/>
            <a:ext cx="276606" cy="27660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34440" y="44348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linkedin.com/in/saud-rawdhan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4864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 Rawdhan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2026-08-13T17:38:21Z</dcterms:created>
  <dcterms:modified xsi:type="dcterms:W3CDTF">2026-08-13T17:38:21Z</dcterms:modified>
</cp:coreProperties>
</file>